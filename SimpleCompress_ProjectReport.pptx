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63" r:id="rId4"/>
    <p:sldId id="264" r:id="rId5"/>
    <p:sldId id="268" r:id="rId6"/>
    <p:sldId id="272" r:id="rId7"/>
    <p:sldId id="273" r:id="rId8"/>
    <p:sldId id="287" r:id="rId9"/>
    <p:sldId id="281" r:id="rId10"/>
    <p:sldId id="282" r:id="rId1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go5HLmL6l2/GkJg0BjMX6ccvBhr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7B1D9B-6E94-4D9F-8B27-BB0B04C3C866}">
  <a:tblStyle styleId="{FE7B1D9B-6E94-4D9F-8B27-BB0B04C3C86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34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42" Type="http://customschemas.google.com/relationships/presentationmetadata" Target="metadata"/><Relationship Id="rId7" Type="http://schemas.openxmlformats.org/officeDocument/2006/relationships/slide" Target="slides/slide6.xml"/><Relationship Id="rId12" Type="http://schemas.openxmlformats.org/officeDocument/2006/relationships/notesMaster" Target="notesMasters/notesMaster1.xml"/><Relationship Id="rId46"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5"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CA"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320"/>
              </a:spcBef>
              <a:spcAft>
                <a:spcPts val="0"/>
              </a:spcAft>
              <a:buNone/>
            </a:pPr>
            <a:r>
              <a:rPr lang="en-CA" sz="1600">
                <a:latin typeface="Calibri"/>
                <a:ea typeface="Calibri"/>
                <a:cs typeface="Calibri"/>
                <a:sym typeface="Calibri"/>
              </a:rPr>
              <a:t>The main content of this presentation is all about how I make reliable firmware from analyzing the requirement analysis to performing a verification</a:t>
            </a:r>
            <a:endParaRPr>
              <a:latin typeface="Calibri"/>
              <a:ea typeface="Calibri"/>
              <a:cs typeface="Calibri"/>
              <a:sym typeface="Calibri"/>
            </a:endParaRPr>
          </a:p>
        </p:txBody>
      </p:sp>
      <p:sp>
        <p:nvSpPr>
          <p:cNvPr id="99" name="Google Shape;99;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99f6197e8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g399f6197e88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CA" b="1"/>
              <a:t>Reasoning for Task Design:</a:t>
            </a:r>
            <a:endParaRPr/>
          </a:p>
          <a:p>
            <a:pPr marL="0" lvl="0" indent="0" algn="l" rtl="0">
              <a:lnSpc>
                <a:spcPct val="100000"/>
              </a:lnSpc>
              <a:spcBef>
                <a:spcPts val="0"/>
              </a:spcBef>
              <a:spcAft>
                <a:spcPts val="0"/>
              </a:spcAft>
              <a:buSzPts val="1400"/>
              <a:buNone/>
            </a:pPr>
            <a:r>
              <a:rPr lang="en-CA" b="1"/>
              <a:t>Voltage Sensor and Pump Current Sensor</a:t>
            </a:r>
            <a:r>
              <a:rPr lang="en-CA"/>
              <a:t> tasks are lower priority because they are periodic tasks responsible for reading data and setting error flags. They don’t need real-time intervention.</a:t>
            </a:r>
            <a:endParaRPr/>
          </a:p>
          <a:p>
            <a:pPr marL="0" lvl="0" indent="0" algn="l" rtl="0">
              <a:lnSpc>
                <a:spcPct val="100000"/>
              </a:lnSpc>
              <a:spcBef>
                <a:spcPts val="0"/>
              </a:spcBef>
              <a:spcAft>
                <a:spcPts val="0"/>
              </a:spcAft>
              <a:buSzPts val="1400"/>
              <a:buNone/>
            </a:pPr>
            <a:r>
              <a:rPr lang="en-CA" b="1"/>
              <a:t>Pump Control Task</a:t>
            </a:r>
            <a:r>
              <a:rPr lang="en-CA"/>
              <a:t> needs higher priority because it directly controls the pump, which is critical to the system. Immediate response is necessary to ensure the pump operates only when the state is valid.</a:t>
            </a:r>
            <a:endParaRPr/>
          </a:p>
          <a:p>
            <a:pPr marL="0" lvl="0" indent="0" algn="l" rtl="0">
              <a:lnSpc>
                <a:spcPct val="100000"/>
              </a:lnSpc>
              <a:spcBef>
                <a:spcPts val="0"/>
              </a:spcBef>
              <a:spcAft>
                <a:spcPts val="0"/>
              </a:spcAft>
              <a:buSzPts val="1400"/>
              <a:buNone/>
            </a:pPr>
            <a:r>
              <a:rPr lang="en-CA" b="1"/>
              <a:t>State Machine Task</a:t>
            </a:r>
            <a:r>
              <a:rPr lang="en-CA"/>
              <a:t> is the highest priority to manage state transitions promptly. It has to monitor both the voltage and current sensors and respond accordingly, handling errors and transitions between Charging, Discharging, and Standby states.</a:t>
            </a:r>
            <a:endParaRPr/>
          </a:p>
          <a:p>
            <a:pPr marL="0" lvl="0" indent="0" algn="l" rtl="0">
              <a:lnSpc>
                <a:spcPct val="100000"/>
              </a:lnSpc>
              <a:spcBef>
                <a:spcPts val="0"/>
              </a:spcBef>
              <a:spcAft>
                <a:spcPts val="0"/>
              </a:spcAft>
              <a:buSzPts val="1400"/>
              <a:buNone/>
            </a:pPr>
            <a:endParaRPr/>
          </a:p>
        </p:txBody>
      </p:sp>
      <p:sp>
        <p:nvSpPr>
          <p:cNvPr id="286" name="Google Shape;28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CA"/>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a:extLst>
            <a:ext uri="{FF2B5EF4-FFF2-40B4-BE49-F238E27FC236}">
              <a16:creationId xmlns:a16="http://schemas.microsoft.com/office/drawing/2014/main" id="{705D861F-6F6E-B0F3-00B5-C95120806FD1}"/>
            </a:ext>
          </a:extLst>
        </p:cNvPr>
        <p:cNvGrpSpPr/>
        <p:nvPr/>
      </p:nvGrpSpPr>
      <p:grpSpPr>
        <a:xfrm>
          <a:off x="0" y="0"/>
          <a:ext cx="0" cy="0"/>
          <a:chOff x="0" y="0"/>
          <a:chExt cx="0" cy="0"/>
        </a:xfrm>
      </p:grpSpPr>
      <p:sp>
        <p:nvSpPr>
          <p:cNvPr id="326" name="Google Shape;326;p15:notes">
            <a:extLst>
              <a:ext uri="{FF2B5EF4-FFF2-40B4-BE49-F238E27FC236}">
                <a16:creationId xmlns:a16="http://schemas.microsoft.com/office/drawing/2014/main" id="{2FBC9F80-AEDF-BDC7-871D-B2EB64892E8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15:notes">
            <a:extLst>
              <a:ext uri="{FF2B5EF4-FFF2-40B4-BE49-F238E27FC236}">
                <a16:creationId xmlns:a16="http://schemas.microsoft.com/office/drawing/2014/main" id="{1956C70C-FBCD-B613-FB67-6B07BEF6327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4179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0" name="Google Shape;440;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3" name="Google Shape;23;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2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9" name="Google Shape;29;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3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5" name="Google Shape;35;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3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2" name="Google Shape;42;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8" name="Google Shape;48;p3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9" name="Google Shape;49;p3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0" name="Google Shape;50;p3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1" name="Google Shape;51;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3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5"/>
          <p:cNvSpPr>
            <a:spLocks noGrp="1"/>
          </p:cNvSpPr>
          <p:nvPr>
            <p:ph type="pic" idx="2"/>
          </p:nvPr>
        </p:nvSpPr>
        <p:spPr>
          <a:xfrm>
            <a:off x="1792288" y="612775"/>
            <a:ext cx="5486400" cy="4114800"/>
          </a:xfrm>
          <a:prstGeom prst="rect">
            <a:avLst/>
          </a:prstGeom>
          <a:noFill/>
          <a:ln>
            <a:noFill/>
          </a:ln>
        </p:spPr>
      </p:sp>
      <p:sp>
        <p:nvSpPr>
          <p:cNvPr id="68" name="Google Shape;68;p3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CA"/>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app.diagrams.net/?src=about#G1ZfPMasZIeGC6kqfAuWZ-3fXeqi45Uipt"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9" name="Google Shape;89;p1"/>
          <p:cNvSpPr/>
          <p:nvPr/>
        </p:nvSpPr>
        <p:spPr>
          <a:xfrm rot="10800000">
            <a:off x="-1" y="-22693"/>
            <a:ext cx="9143998" cy="4374129"/>
          </a:xfrm>
          <a:prstGeom prst="rect">
            <a:avLst/>
          </a:prstGeom>
          <a:gradFill>
            <a:gsLst>
              <a:gs pos="0">
                <a:srgbClr val="366092"/>
              </a:gs>
              <a:gs pos="100000">
                <a:srgbClr val="000000"/>
              </a:gs>
            </a:gsLst>
            <a:lin ang="15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90;p1"/>
          <p:cNvSpPr/>
          <p:nvPr/>
        </p:nvSpPr>
        <p:spPr>
          <a:xfrm rot="5400000">
            <a:off x="2384720" y="-2407841"/>
            <a:ext cx="4374557" cy="9144000"/>
          </a:xfrm>
          <a:prstGeom prst="rect">
            <a:avLst/>
          </a:prstGeom>
          <a:gradFill>
            <a:gsLst>
              <a:gs pos="0">
                <a:srgbClr val="4F81BD">
                  <a:alpha val="0"/>
                </a:srgbClr>
              </a:gs>
              <a:gs pos="40000">
                <a:srgbClr val="4F81BD">
                  <a:alpha val="0"/>
                </a:srgbClr>
              </a:gs>
              <a:gs pos="100000">
                <a:srgbClr val="366092">
                  <a:alpha val="51372"/>
                </a:srgbClr>
              </a:gs>
            </a:gsLst>
            <a:lin ang="2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1" name="Google Shape;91;p1"/>
          <p:cNvSpPr/>
          <p:nvPr/>
        </p:nvSpPr>
        <p:spPr>
          <a:xfrm rot="5400000">
            <a:off x="2555756" y="-2236808"/>
            <a:ext cx="4374128" cy="8802359"/>
          </a:xfrm>
          <a:prstGeom prst="rect">
            <a:avLst/>
          </a:prstGeom>
          <a:gradFill>
            <a:gsLst>
              <a:gs pos="0">
                <a:srgbClr val="4F81BD">
                  <a:alpha val="0"/>
                </a:srgbClr>
              </a:gs>
              <a:gs pos="17000">
                <a:srgbClr val="4F81BD">
                  <a:alpha val="0"/>
                </a:srgbClr>
              </a:gs>
              <a:gs pos="100000">
                <a:srgbClr val="000000">
                  <a:alpha val="36470"/>
                </a:srgbClr>
              </a:gs>
            </a:gsLst>
            <a:lin ang="7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2" name="Google Shape;92;p1"/>
          <p:cNvSpPr/>
          <p:nvPr/>
        </p:nvSpPr>
        <p:spPr>
          <a:xfrm>
            <a:off x="-3" y="-22690"/>
            <a:ext cx="6406863" cy="4374126"/>
          </a:xfrm>
          <a:prstGeom prst="rect">
            <a:avLst/>
          </a:prstGeom>
          <a:gradFill>
            <a:gsLst>
              <a:gs pos="0">
                <a:srgbClr val="244061">
                  <a:alpha val="0"/>
                </a:srgbClr>
              </a:gs>
              <a:gs pos="100000">
                <a:srgbClr val="000000">
                  <a:alpha val="24313"/>
                </a:srgbClr>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3" name="Google Shape;93;p1"/>
          <p:cNvSpPr/>
          <p:nvPr/>
        </p:nvSpPr>
        <p:spPr>
          <a:xfrm rot="-9091028">
            <a:off x="4459073" y="-1032053"/>
            <a:ext cx="3742610" cy="4439131"/>
          </a:xfrm>
          <a:custGeom>
            <a:avLst/>
            <a:gdLst/>
            <a:ahLst/>
            <a:cxnLst/>
            <a:rect l="l" t="t" r="r" b="b"/>
            <a:pathLst>
              <a:path w="4990147" h="4439131" extrusionOk="0">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4F81BD">
                  <a:alpha val="21568"/>
                </a:srgbClr>
              </a:gs>
              <a:gs pos="87000">
                <a:srgbClr val="93B3D7">
                  <a:alpha val="1568"/>
                </a:srgbClr>
              </a:gs>
              <a:gs pos="100000">
                <a:srgbClr val="93B3D7">
                  <a:alpha val="1568"/>
                </a:srgbClr>
              </a:gs>
            </a:gsLst>
            <a:lin ang="8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4" name="Google Shape;94;p1"/>
          <p:cNvSpPr txBox="1">
            <a:spLocks noGrp="1"/>
          </p:cNvSpPr>
          <p:nvPr>
            <p:ph type="title"/>
          </p:nvPr>
        </p:nvSpPr>
        <p:spPr>
          <a:xfrm>
            <a:off x="986118" y="735106"/>
            <a:ext cx="7540322" cy="292847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FF"/>
              </a:buClr>
              <a:buSzPts val="4000"/>
              <a:buFont typeface="Calibri"/>
              <a:buNone/>
            </a:pPr>
            <a:r>
              <a:rPr lang="en-CA" sz="4000" b="1" dirty="0">
                <a:solidFill>
                  <a:srgbClr val="FFFFFF"/>
                </a:solidFill>
                <a:latin typeface="Calibri"/>
                <a:ea typeface="Calibri"/>
                <a:cs typeface="Calibri"/>
                <a:sym typeface="Calibri"/>
              </a:rPr>
              <a:t>Project Report</a:t>
            </a:r>
            <a:br>
              <a:rPr lang="en-CA" sz="4000" dirty="0">
                <a:solidFill>
                  <a:srgbClr val="FFFFFF"/>
                </a:solidFill>
                <a:latin typeface="Calibri"/>
                <a:ea typeface="Calibri"/>
                <a:cs typeface="Calibri"/>
                <a:sym typeface="Calibri"/>
              </a:rPr>
            </a:br>
            <a:r>
              <a:rPr lang="en-CA" sz="4000" b="1" dirty="0">
                <a:solidFill>
                  <a:srgbClr val="FFFFFF"/>
                </a:solidFill>
                <a:latin typeface="Calibri"/>
                <a:ea typeface="Calibri"/>
                <a:cs typeface="Calibri"/>
                <a:sym typeface="Calibri"/>
              </a:rPr>
              <a:t>Simple Compress Design &amp; Implementation</a:t>
            </a:r>
            <a:br>
              <a:rPr lang="en-CA" sz="3900" dirty="0">
                <a:solidFill>
                  <a:srgbClr val="FFFFFF"/>
                </a:solidFill>
                <a:latin typeface="Calibri"/>
                <a:ea typeface="Calibri"/>
                <a:cs typeface="Calibri"/>
                <a:sym typeface="Calibri"/>
              </a:rPr>
            </a:br>
            <a:r>
              <a:rPr lang="en-CA" sz="2400" dirty="0">
                <a:solidFill>
                  <a:srgbClr val="FFFFFF"/>
                </a:solidFill>
                <a:latin typeface="Calibri"/>
                <a:ea typeface="Calibri"/>
                <a:cs typeface="Calibri"/>
                <a:sym typeface="Calibri"/>
              </a:rPr>
              <a:t>(A simple code C on </a:t>
            </a:r>
            <a:r>
              <a:rPr lang="en-CA" sz="2400" dirty="0">
                <a:solidFill>
                  <a:srgbClr val="FFFFFF"/>
                </a:solidFill>
              </a:rPr>
              <a:t>L</a:t>
            </a:r>
            <a:r>
              <a:rPr lang="en-CA" sz="2400" dirty="0">
                <a:solidFill>
                  <a:srgbClr val="FFFFFF"/>
                </a:solidFill>
                <a:latin typeface="Calibri"/>
                <a:ea typeface="Calibri"/>
                <a:cs typeface="Calibri"/>
                <a:sym typeface="Calibri"/>
              </a:rPr>
              <a:t>inux OS)</a:t>
            </a:r>
            <a:endParaRPr dirty="0"/>
          </a:p>
        </p:txBody>
      </p:sp>
      <p:sp>
        <p:nvSpPr>
          <p:cNvPr id="95" name="Google Shape;95;p1"/>
          <p:cNvSpPr txBox="1"/>
          <p:nvPr/>
        </p:nvSpPr>
        <p:spPr>
          <a:xfrm>
            <a:off x="1013011" y="4870824"/>
            <a:ext cx="7504463" cy="1458258"/>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2400"/>
              <a:buFont typeface="Arial"/>
              <a:buNone/>
            </a:pPr>
            <a:r>
              <a:rPr lang="en-CA" sz="2400" b="1" i="0" u="none" strike="noStrike" cap="none" dirty="0">
                <a:solidFill>
                  <a:schemeClr val="dk1"/>
                </a:solidFill>
                <a:latin typeface="Calibri"/>
                <a:ea typeface="Calibri"/>
                <a:cs typeface="Calibri"/>
                <a:sym typeface="Calibri"/>
              </a:rPr>
              <a:t>Version:</a:t>
            </a:r>
            <a:r>
              <a:rPr lang="en-CA" sz="2400" b="0" i="0" u="none" strike="noStrike" cap="none" dirty="0">
                <a:solidFill>
                  <a:schemeClr val="dk1"/>
                </a:solidFill>
                <a:latin typeface="Calibri"/>
                <a:ea typeface="Calibri"/>
                <a:cs typeface="Calibri"/>
                <a:sym typeface="Calibri"/>
              </a:rPr>
              <a:t> 1.0</a:t>
            </a:r>
            <a:br>
              <a:rPr lang="en-CA" sz="2400" b="0" i="0" u="none" strike="noStrike" cap="none" dirty="0">
                <a:solidFill>
                  <a:schemeClr val="dk1"/>
                </a:solidFill>
                <a:latin typeface="Calibri"/>
                <a:ea typeface="Calibri"/>
                <a:cs typeface="Calibri"/>
                <a:sym typeface="Calibri"/>
              </a:rPr>
            </a:br>
            <a:r>
              <a:rPr lang="en-CA" sz="2400" b="1" i="0" u="none" strike="noStrike" cap="none" dirty="0">
                <a:solidFill>
                  <a:schemeClr val="dk1"/>
                </a:solidFill>
                <a:latin typeface="Calibri"/>
                <a:ea typeface="Calibri"/>
                <a:cs typeface="Calibri"/>
                <a:sym typeface="Calibri"/>
              </a:rPr>
              <a:t>Author:</a:t>
            </a:r>
            <a:r>
              <a:rPr lang="en-CA" sz="2400" b="0" i="0" u="none" strike="noStrike" cap="none" dirty="0">
                <a:solidFill>
                  <a:schemeClr val="dk1"/>
                </a:solidFill>
                <a:latin typeface="Calibri"/>
                <a:ea typeface="Calibri"/>
                <a:cs typeface="Calibri"/>
                <a:sym typeface="Calibri"/>
              </a:rPr>
              <a:t> Thai (Thomas)</a:t>
            </a:r>
            <a:br>
              <a:rPr lang="en-CA" sz="2400" b="0" i="0" u="none" strike="noStrike" cap="none" dirty="0">
                <a:solidFill>
                  <a:schemeClr val="dk1"/>
                </a:solidFill>
                <a:latin typeface="Calibri"/>
                <a:ea typeface="Calibri"/>
                <a:cs typeface="Calibri"/>
                <a:sym typeface="Calibri"/>
              </a:rPr>
            </a:br>
            <a:r>
              <a:rPr lang="en-CA" sz="2400" b="1" i="0" u="none" strike="noStrike" cap="none" dirty="0">
                <a:solidFill>
                  <a:schemeClr val="dk1"/>
                </a:solidFill>
                <a:latin typeface="Calibri"/>
                <a:ea typeface="Calibri"/>
                <a:cs typeface="Calibri"/>
                <a:sym typeface="Calibri"/>
              </a:rPr>
              <a:t>Date:</a:t>
            </a:r>
            <a:r>
              <a:rPr lang="en-CA" sz="2400" b="0" i="0" u="none" strike="noStrike" cap="none" dirty="0">
                <a:solidFill>
                  <a:schemeClr val="dk1"/>
                </a:solidFill>
                <a:latin typeface="Calibri"/>
                <a:ea typeface="Calibri"/>
                <a:cs typeface="Calibri"/>
                <a:sym typeface="Calibri"/>
              </a:rPr>
              <a:t>  </a:t>
            </a:r>
            <a:r>
              <a:rPr lang="en-CA" sz="2400" dirty="0">
                <a:solidFill>
                  <a:schemeClr val="dk1"/>
                </a:solidFill>
                <a:latin typeface="Calibri"/>
                <a:ea typeface="Calibri"/>
                <a:cs typeface="Calibri"/>
                <a:sym typeface="Calibri"/>
              </a:rPr>
              <a:t>November</a:t>
            </a:r>
            <a:r>
              <a:rPr lang="en-CA" sz="2400" b="0" i="0" u="none" strike="noStrike" cap="none" dirty="0">
                <a:solidFill>
                  <a:schemeClr val="dk1"/>
                </a:solidFill>
                <a:latin typeface="Calibri"/>
                <a:ea typeface="Calibri"/>
                <a:cs typeface="Calibri"/>
                <a:sym typeface="Calibri"/>
              </a:rPr>
              <a:t> </a:t>
            </a:r>
            <a:r>
              <a:rPr lang="en-CA" sz="2400" dirty="0">
                <a:solidFill>
                  <a:schemeClr val="dk1"/>
                </a:solidFill>
                <a:latin typeface="Calibri"/>
                <a:ea typeface="Calibri"/>
                <a:cs typeface="Calibri"/>
                <a:sym typeface="Calibri"/>
              </a:rPr>
              <a:t>20</a:t>
            </a:r>
            <a:r>
              <a:rPr lang="en-CA" sz="2400" b="0" i="0" u="none" strike="noStrike" cap="none" dirty="0">
                <a:solidFill>
                  <a:schemeClr val="dk1"/>
                </a:solidFill>
                <a:latin typeface="Calibri"/>
                <a:ea typeface="Calibri"/>
                <a:cs typeface="Calibri"/>
                <a:sym typeface="Calibri"/>
              </a:rPr>
              <a:t>,  2025</a:t>
            </a:r>
            <a:endParaRPr sz="1400" b="0" i="0" u="none" strike="noStrike" cap="none" dirty="0">
              <a:solidFill>
                <a:srgbClr val="000000"/>
              </a:solidFill>
              <a:latin typeface="Arial"/>
              <a:ea typeface="Arial"/>
              <a:cs typeface="Arial"/>
              <a:sym typeface="Arial"/>
            </a:endParaRPr>
          </a:p>
        </p:txBody>
      </p:sp>
      <p:sp>
        <p:nvSpPr>
          <p:cNvPr id="96" name="Google Shape;96;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CA"/>
              <a:t>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
        <p:cNvGrpSpPr/>
        <p:nvPr/>
      </p:nvGrpSpPr>
      <p:grpSpPr>
        <a:xfrm>
          <a:off x="0" y="0"/>
          <a:ext cx="0" cy="0"/>
          <a:chOff x="0" y="0"/>
          <a:chExt cx="0" cy="0"/>
        </a:xfrm>
      </p:grpSpPr>
      <p:sp>
        <p:nvSpPr>
          <p:cNvPr id="101" name="Google Shape;101;p2"/>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2" name="Google Shape;102;p2"/>
          <p:cNvSpPr/>
          <p:nvPr/>
        </p:nvSpPr>
        <p:spPr>
          <a:xfrm flipH="1">
            <a:off x="0" y="-1"/>
            <a:ext cx="9143997" cy="1590742"/>
          </a:xfrm>
          <a:prstGeom prst="rect">
            <a:avLst/>
          </a:prstGeom>
          <a:gradFill>
            <a:gsLst>
              <a:gs pos="0">
                <a:srgbClr val="000000"/>
              </a:gs>
              <a:gs pos="100000">
                <a:srgbClr val="366092"/>
              </a:gs>
            </a:gsLst>
            <a:lin ang="8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3" name="Google Shape;103;p2"/>
          <p:cNvSpPr/>
          <p:nvPr/>
        </p:nvSpPr>
        <p:spPr>
          <a:xfrm rot="10800000" flipH="1">
            <a:off x="-2" y="0"/>
            <a:ext cx="6086479" cy="1590742"/>
          </a:xfrm>
          <a:prstGeom prst="rect">
            <a:avLst/>
          </a:prstGeom>
          <a:gradFill>
            <a:gsLst>
              <a:gs pos="0">
                <a:srgbClr val="4F81BD">
                  <a:alpha val="0"/>
                </a:srgbClr>
              </a:gs>
              <a:gs pos="20000">
                <a:srgbClr val="4F81BD">
                  <a:alpha val="0"/>
                </a:srgbClr>
              </a:gs>
              <a:gs pos="100000">
                <a:srgbClr val="244061">
                  <a:alpha val="54509"/>
                </a:srgbClr>
              </a:gs>
            </a:gsLst>
            <a:lin ang="1380000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4" name="Google Shape;104;p2"/>
          <p:cNvSpPr/>
          <p:nvPr/>
        </p:nvSpPr>
        <p:spPr>
          <a:xfrm flipH="1">
            <a:off x="6086474" y="-1"/>
            <a:ext cx="3057523" cy="1590742"/>
          </a:xfrm>
          <a:prstGeom prst="rect">
            <a:avLst/>
          </a:prstGeom>
          <a:gradFill>
            <a:gsLst>
              <a:gs pos="0">
                <a:srgbClr val="4F81BD">
                  <a:alpha val="65490"/>
                </a:srgbClr>
              </a:gs>
              <a:gs pos="100000">
                <a:srgbClr val="000000">
                  <a:alpha val="29411"/>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5" name="Google Shape;105;p2"/>
          <p:cNvSpPr/>
          <p:nvPr/>
        </p:nvSpPr>
        <p:spPr>
          <a:xfrm>
            <a:off x="344512" y="-1"/>
            <a:ext cx="8799485" cy="1597433"/>
          </a:xfrm>
          <a:prstGeom prst="rect">
            <a:avLst/>
          </a:prstGeom>
          <a:gradFill>
            <a:gsLst>
              <a:gs pos="0">
                <a:srgbClr val="000000">
                  <a:alpha val="0"/>
                </a:srgbClr>
              </a:gs>
              <a:gs pos="50000">
                <a:srgbClr val="000000">
                  <a:alpha val="0"/>
                </a:srgbClr>
              </a:gs>
              <a:gs pos="99000">
                <a:srgbClr val="244061">
                  <a:alpha val="51372"/>
                </a:srgbClr>
              </a:gs>
              <a:gs pos="100000">
                <a:srgbClr val="244061">
                  <a:alpha val="51372"/>
                </a:srgbClr>
              </a:gs>
            </a:gsLst>
            <a:lin ang="16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6" name="Google Shape;106;p2"/>
          <p:cNvSpPr txBox="1">
            <a:spLocks noGrp="1"/>
          </p:cNvSpPr>
          <p:nvPr>
            <p:ph type="title"/>
          </p:nvPr>
        </p:nvSpPr>
        <p:spPr>
          <a:xfrm>
            <a:off x="1028699" y="294538"/>
            <a:ext cx="7421963" cy="103366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FFFF"/>
              </a:buClr>
              <a:buSzPts val="3500"/>
              <a:buFont typeface="Calibri"/>
              <a:buNone/>
            </a:pPr>
            <a:r>
              <a:rPr lang="en-CA" sz="3500" b="1" dirty="0">
                <a:solidFill>
                  <a:srgbClr val="FFFFFF"/>
                </a:solidFill>
              </a:rPr>
              <a:t>Main Content</a:t>
            </a:r>
            <a:endParaRPr sz="3500" dirty="0">
              <a:solidFill>
                <a:srgbClr val="FFFFFF"/>
              </a:solidFill>
            </a:endParaRPr>
          </a:p>
        </p:txBody>
      </p:sp>
      <p:sp>
        <p:nvSpPr>
          <p:cNvPr id="107" name="Google Shape;107;p2"/>
          <p:cNvSpPr txBox="1">
            <a:spLocks noGrp="1"/>
          </p:cNvSpPr>
          <p:nvPr>
            <p:ph type="body" idx="1"/>
          </p:nvPr>
        </p:nvSpPr>
        <p:spPr>
          <a:xfrm>
            <a:off x="1028699" y="2318197"/>
            <a:ext cx="7293023" cy="3683358"/>
          </a:xfrm>
          <a:prstGeom prst="rect">
            <a:avLst/>
          </a:prstGeom>
          <a:noFill/>
          <a:ln>
            <a:noFill/>
          </a:ln>
        </p:spPr>
        <p:txBody>
          <a:bodyPr spcFirstLastPara="1" wrap="square" lIns="91425" tIns="45700" rIns="91425" bIns="45700" anchor="ctr" anchorCtr="0">
            <a:normAutofit/>
          </a:bodyPr>
          <a:lstStyle/>
          <a:p>
            <a:pPr marL="342900" lvl="0" indent="-368300" algn="l" rtl="0">
              <a:lnSpc>
                <a:spcPct val="90000"/>
              </a:lnSpc>
              <a:spcBef>
                <a:spcPts val="0"/>
              </a:spcBef>
              <a:spcAft>
                <a:spcPts val="0"/>
              </a:spcAft>
              <a:buClr>
                <a:schemeClr val="dk1"/>
              </a:buClr>
              <a:buSzPts val="2000"/>
              <a:buFont typeface="Arial"/>
              <a:buChar char="•"/>
            </a:pPr>
            <a:r>
              <a:rPr lang="en-US" sz="2000" b="1" dirty="0"/>
              <a:t>Requirement</a:t>
            </a:r>
            <a:br>
              <a:rPr lang="en-US" sz="2000" dirty="0"/>
            </a:br>
            <a:r>
              <a:rPr lang="en-US" sz="2000" dirty="0"/>
              <a:t>Define a simple compress for specifical data (data value &lt; 128). Implements Simple run-length encoding (S-RLE) compression that compresses consecutive identical bytes. </a:t>
            </a:r>
          </a:p>
          <a:p>
            <a:pPr marL="342900" lvl="0" indent="-368300" algn="l" rtl="0">
              <a:lnSpc>
                <a:spcPct val="90000"/>
              </a:lnSpc>
              <a:spcBef>
                <a:spcPts val="320"/>
              </a:spcBef>
              <a:spcAft>
                <a:spcPts val="0"/>
              </a:spcAft>
              <a:buClr>
                <a:schemeClr val="dk1"/>
              </a:buClr>
              <a:buSzPts val="2000"/>
              <a:buFont typeface="Arial"/>
              <a:buChar char="•"/>
            </a:pPr>
            <a:r>
              <a:rPr lang="en-CA" sz="2000" b="1" dirty="0"/>
              <a:t>System Design &amp; Implementation</a:t>
            </a:r>
            <a:br>
              <a:rPr lang="en-CA" sz="2000" dirty="0"/>
            </a:br>
            <a:r>
              <a:rPr lang="en-CA" sz="2000" dirty="0"/>
              <a:t>Develop architecture, flowchart diagram</a:t>
            </a:r>
            <a:r>
              <a:rPr lang="en-US" sz="2000" dirty="0"/>
              <a:t>.</a:t>
            </a:r>
            <a:br>
              <a:rPr lang="en-CA" sz="2000" dirty="0"/>
            </a:br>
            <a:r>
              <a:rPr lang="en-CA" sz="2000" dirty="0"/>
              <a:t>Implement </a:t>
            </a:r>
            <a:r>
              <a:rPr lang="en-US" sz="2000" dirty="0"/>
              <a:t>a simple code C on Linux OS</a:t>
            </a:r>
            <a:endParaRPr sz="2000" dirty="0"/>
          </a:p>
          <a:p>
            <a:pPr marL="342900" lvl="0" indent="-368300" algn="l" rtl="0">
              <a:lnSpc>
                <a:spcPct val="90000"/>
              </a:lnSpc>
              <a:spcBef>
                <a:spcPts val="320"/>
              </a:spcBef>
              <a:spcAft>
                <a:spcPts val="0"/>
              </a:spcAft>
              <a:buClr>
                <a:schemeClr val="dk1"/>
              </a:buClr>
              <a:buSzPts val="2000"/>
              <a:buFont typeface="Arial"/>
              <a:buChar char="•"/>
            </a:pPr>
            <a:r>
              <a:rPr lang="en-CA" sz="2000" b="1" dirty="0"/>
              <a:t>Testing</a:t>
            </a:r>
            <a:br>
              <a:rPr lang="en-CA" sz="2000" dirty="0"/>
            </a:br>
            <a:r>
              <a:rPr lang="en-CA" sz="2000" dirty="0"/>
              <a:t>Perform functional tests on compress and decompress.</a:t>
            </a:r>
          </a:p>
          <a:p>
            <a:pPr marL="342900" indent="-368300">
              <a:lnSpc>
                <a:spcPct val="90000"/>
              </a:lnSpc>
              <a:spcBef>
                <a:spcPts val="320"/>
              </a:spcBef>
              <a:buSzPts val="2000"/>
            </a:pPr>
            <a:r>
              <a:rPr lang="en-CA" sz="2000" b="1" dirty="0"/>
              <a:t>Comparison</a:t>
            </a:r>
            <a:br>
              <a:rPr lang="en-CA" sz="2000" dirty="0"/>
            </a:br>
            <a:r>
              <a:rPr lang="en-CA" sz="2000" dirty="0"/>
              <a:t>Comparison with some other algorithms.</a:t>
            </a:r>
          </a:p>
        </p:txBody>
      </p:sp>
      <p:sp>
        <p:nvSpPr>
          <p:cNvPr id="108" name="Google Shape;10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CA"/>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
        <p:cNvGrpSpPr/>
        <p:nvPr/>
      </p:nvGrpSpPr>
      <p:grpSpPr>
        <a:xfrm>
          <a:off x="0" y="0"/>
          <a:ext cx="0" cy="0"/>
          <a:chOff x="0" y="0"/>
          <a:chExt cx="0" cy="0"/>
        </a:xfrm>
      </p:grpSpPr>
      <p:sp>
        <p:nvSpPr>
          <p:cNvPr id="165" name="Google Shape;165;p5"/>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6" name="Google Shape;166;p5"/>
          <p:cNvSpPr/>
          <p:nvPr/>
        </p:nvSpPr>
        <p:spPr>
          <a:xfrm>
            <a:off x="0" y="-427"/>
            <a:ext cx="9144000" cy="6858000"/>
          </a:xfrm>
          <a:prstGeom prst="rect">
            <a:avLst/>
          </a:prstGeom>
          <a:gradFill>
            <a:gsLst>
              <a:gs pos="0">
                <a:srgbClr val="000000"/>
              </a:gs>
              <a:gs pos="100000">
                <a:srgbClr val="366092"/>
              </a:gs>
            </a:gsLst>
            <a:lin ang="15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7" name="Google Shape;167;p5"/>
          <p:cNvSpPr/>
          <p:nvPr/>
        </p:nvSpPr>
        <p:spPr>
          <a:xfrm rot="10800000" flipH="1">
            <a:off x="341640" y="-1720"/>
            <a:ext cx="8812530" cy="6840685"/>
          </a:xfrm>
          <a:prstGeom prst="rect">
            <a:avLst/>
          </a:prstGeom>
          <a:gradFill>
            <a:gsLst>
              <a:gs pos="0">
                <a:srgbClr val="244061">
                  <a:alpha val="60392"/>
                </a:srgbClr>
              </a:gs>
              <a:gs pos="21000">
                <a:srgbClr val="244061">
                  <a:alpha val="60392"/>
                </a:srgbClr>
              </a:gs>
              <a:gs pos="100000">
                <a:srgbClr val="4F81BD">
                  <a:alpha val="0"/>
                </a:srgbClr>
              </a:gs>
            </a:gsLst>
            <a:lin ang="21593999"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8" name="Google Shape;168;p5"/>
          <p:cNvSpPr/>
          <p:nvPr/>
        </p:nvSpPr>
        <p:spPr>
          <a:xfrm>
            <a:off x="6454540" y="-1291"/>
            <a:ext cx="2706134" cy="6858864"/>
          </a:xfrm>
          <a:prstGeom prst="rect">
            <a:avLst/>
          </a:prstGeom>
          <a:gradFill>
            <a:gsLst>
              <a:gs pos="0">
                <a:srgbClr val="366092">
                  <a:alpha val="0"/>
                </a:srgbClr>
              </a:gs>
              <a:gs pos="99000">
                <a:srgbClr val="000000">
                  <a:alpha val="40392"/>
                </a:srgbClr>
              </a:gs>
              <a:gs pos="100000">
                <a:srgbClr val="000000">
                  <a:alpha val="40392"/>
                </a:srgbClr>
              </a:gs>
            </a:gsLst>
            <a:lin ang="16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9" name="Google Shape;169;p5"/>
          <p:cNvSpPr/>
          <p:nvPr/>
        </p:nvSpPr>
        <p:spPr>
          <a:xfrm rot="-6325827">
            <a:off x="3923854" y="1402819"/>
            <a:ext cx="4967533" cy="3741293"/>
          </a:xfrm>
          <a:prstGeom prst="ellipse">
            <a:avLst/>
          </a:prstGeom>
          <a:gradFill>
            <a:gsLst>
              <a:gs pos="0">
                <a:srgbClr val="4F81BD">
                  <a:alpha val="23529"/>
                </a:srgbClr>
              </a:gs>
              <a:gs pos="79000">
                <a:srgbClr val="93B3D7">
                  <a:alpha val="0"/>
                </a:srgbClr>
              </a:gs>
              <a:gs pos="100000">
                <a:srgbClr val="93B3D7">
                  <a:alpha val="0"/>
                </a:srgbClr>
              </a:gs>
            </a:gsLst>
            <a:lin ang="14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0" name="Google Shape;170;p5"/>
          <p:cNvSpPr txBox="1">
            <a:spLocks noGrp="1"/>
          </p:cNvSpPr>
          <p:nvPr>
            <p:ph type="ctrTitle"/>
          </p:nvPr>
        </p:nvSpPr>
        <p:spPr>
          <a:xfrm>
            <a:off x="1040148" y="818984"/>
            <a:ext cx="4947184" cy="3268520"/>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Clr>
                <a:srgbClr val="FFFFFF"/>
              </a:buClr>
              <a:buSzPts val="4200"/>
              <a:buFont typeface="Calibri"/>
              <a:buNone/>
            </a:pPr>
            <a:r>
              <a:rPr lang="en-CA" sz="4200" dirty="0">
                <a:solidFill>
                  <a:srgbClr val="FFFFFF"/>
                </a:solidFill>
              </a:rPr>
              <a:t>System Design &amp; Implementation </a:t>
            </a:r>
            <a:endParaRPr dirty="0"/>
          </a:p>
        </p:txBody>
      </p:sp>
      <p:sp>
        <p:nvSpPr>
          <p:cNvPr id="171" name="Google Shape;171;p5"/>
          <p:cNvSpPr/>
          <p:nvPr/>
        </p:nvSpPr>
        <p:spPr>
          <a:xfrm rot="10800000" flipH="1">
            <a:off x="4735" y="4480038"/>
            <a:ext cx="9134528" cy="2377962"/>
          </a:xfrm>
          <a:prstGeom prst="rect">
            <a:avLst/>
          </a:prstGeom>
          <a:gradFill>
            <a:gsLst>
              <a:gs pos="0">
                <a:srgbClr val="366092">
                  <a:alpha val="49411"/>
                </a:srgbClr>
              </a:gs>
              <a:gs pos="99000">
                <a:srgbClr val="000000">
                  <a:alpha val="33333"/>
                </a:srgbClr>
              </a:gs>
              <a:gs pos="100000">
                <a:srgbClr val="000000">
                  <a:alpha val="33333"/>
                </a:srgbClr>
              </a:gs>
            </a:gsLst>
            <a:lin ang="17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2" name="Google Shape;172;p5"/>
          <p:cNvSpPr txBox="1">
            <a:spLocks noGrp="1"/>
          </p:cNvSpPr>
          <p:nvPr>
            <p:ph type="subTitle" idx="1"/>
          </p:nvPr>
        </p:nvSpPr>
        <p:spPr>
          <a:xfrm>
            <a:off x="1448905" y="4797188"/>
            <a:ext cx="4538427" cy="1241828"/>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440"/>
              </a:spcBef>
              <a:spcAft>
                <a:spcPts val="0"/>
              </a:spcAft>
              <a:buClr>
                <a:srgbClr val="FFFFFF"/>
              </a:buClr>
              <a:buSzPts val="2200"/>
              <a:buNone/>
            </a:pPr>
            <a:r>
              <a:rPr lang="en-CA" sz="2200" dirty="0">
                <a:solidFill>
                  <a:srgbClr val="FFFFFF"/>
                </a:solidFill>
              </a:rPr>
              <a:t>Flowchart Diagram</a:t>
            </a:r>
          </a:p>
          <a:p>
            <a:pPr marL="0" lvl="0" indent="0" algn="r" rtl="0">
              <a:lnSpc>
                <a:spcPct val="90000"/>
              </a:lnSpc>
              <a:spcBef>
                <a:spcPts val="440"/>
              </a:spcBef>
              <a:spcAft>
                <a:spcPts val="0"/>
              </a:spcAft>
              <a:buClr>
                <a:srgbClr val="FFFFFF"/>
              </a:buClr>
              <a:buSzPts val="2200"/>
              <a:buNone/>
            </a:pPr>
            <a:r>
              <a:rPr lang="en-CA" sz="2200" dirty="0">
                <a:solidFill>
                  <a:srgbClr val="FFFFFF"/>
                </a:solidFill>
              </a:rPr>
              <a:t>Implementation</a:t>
            </a:r>
            <a:endParaRPr dirty="0"/>
          </a:p>
        </p:txBody>
      </p:sp>
      <p:sp>
        <p:nvSpPr>
          <p:cNvPr id="173" name="Google Shape;173;p5"/>
          <p:cNvSpPr/>
          <p:nvPr/>
        </p:nvSpPr>
        <p:spPr>
          <a:xfrm rot="-5400000" flipH="1">
            <a:off x="4368117" y="2081692"/>
            <a:ext cx="6857572" cy="2694194"/>
          </a:xfrm>
          <a:prstGeom prst="rect">
            <a:avLst/>
          </a:prstGeom>
          <a:gradFill>
            <a:gsLst>
              <a:gs pos="0">
                <a:srgbClr val="366092">
                  <a:alpha val="49411"/>
                </a:srgbClr>
              </a:gs>
              <a:gs pos="99000">
                <a:srgbClr val="000000">
                  <a:alpha val="0"/>
                </a:srgbClr>
              </a:gs>
              <a:gs pos="100000">
                <a:srgbClr val="000000">
                  <a:alpha val="0"/>
                </a:srgbClr>
              </a:gs>
            </a:gsLst>
            <a:lin ang="15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4" name="Google Shape;174;p5"/>
          <p:cNvSpPr txBox="1">
            <a:spLocks noGrp="1"/>
          </p:cNvSpPr>
          <p:nvPr>
            <p:ph type="sldNum" idx="12"/>
          </p:nvPr>
        </p:nvSpPr>
        <p:spPr>
          <a:xfrm>
            <a:off x="8778240" y="6455664"/>
            <a:ext cx="336042" cy="365125"/>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0"/>
              </a:spcAft>
              <a:buSzPts val="1000"/>
              <a:buNone/>
            </a:pPr>
            <a:fld id="{00000000-1234-1234-1234-123412341234}" type="slidenum">
              <a:rPr lang="en-CA" sz="1000">
                <a:solidFill>
                  <a:srgbClr val="FFFFFF"/>
                </a:solidFill>
              </a:rPr>
              <a:t>3</a:t>
            </a:fld>
            <a:endParaRPr sz="10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2" name="Google Shape;182;g399f6197e88_0_0"/>
          <p:cNvSpPr txBox="1">
            <a:spLocks noGrp="1"/>
          </p:cNvSpPr>
          <p:nvPr>
            <p:ph type="title"/>
          </p:nvPr>
        </p:nvSpPr>
        <p:spPr>
          <a:xfrm>
            <a:off x="524784" y="248038"/>
            <a:ext cx="8162100"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CA" sz="3600" dirty="0"/>
              <a:t>System architecture diagram</a:t>
            </a:r>
            <a:endParaRPr sz="3500" dirty="0">
              <a:latin typeface="Calibri"/>
              <a:ea typeface="Calibri"/>
              <a:cs typeface="Calibri"/>
              <a:sym typeface="Calibri"/>
            </a:endParaRPr>
          </a:p>
        </p:txBody>
      </p:sp>
      <p:sp>
        <p:nvSpPr>
          <p:cNvPr id="188" name="Google Shape;188;g399f6197e88_0_0"/>
          <p:cNvSpPr txBox="1">
            <a:spLocks noGrp="1"/>
          </p:cNvSpPr>
          <p:nvPr>
            <p:ph type="sldNum" idx="12"/>
          </p:nvPr>
        </p:nvSpPr>
        <p:spPr>
          <a:xfrm>
            <a:off x="6673400" y="6259338"/>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CA"/>
              <a:t>4</a:t>
            </a:fld>
            <a:endParaRPr/>
          </a:p>
        </p:txBody>
      </p:sp>
      <p:sp>
        <p:nvSpPr>
          <p:cNvPr id="8" name="TextBox 7">
            <a:extLst>
              <a:ext uri="{FF2B5EF4-FFF2-40B4-BE49-F238E27FC236}">
                <a16:creationId xmlns:a16="http://schemas.microsoft.com/office/drawing/2014/main" id="{28D13D6C-BDF1-46A6-4263-69ED85ECEC18}"/>
              </a:ext>
            </a:extLst>
          </p:cNvPr>
          <p:cNvSpPr txBox="1"/>
          <p:nvPr/>
        </p:nvSpPr>
        <p:spPr>
          <a:xfrm>
            <a:off x="6400800" y="1637969"/>
            <a:ext cx="792205" cy="307777"/>
          </a:xfrm>
          <a:prstGeom prst="rect">
            <a:avLst/>
          </a:prstGeom>
          <a:noFill/>
        </p:spPr>
        <p:txBody>
          <a:bodyPr wrap="none" rtlCol="0">
            <a:spAutoFit/>
          </a:bodyPr>
          <a:lstStyle/>
          <a:p>
            <a:r>
              <a:rPr lang="en-US" dirty="0">
                <a:hlinkClick r:id="rId3"/>
              </a:rPr>
              <a:t>Link full</a:t>
            </a:r>
            <a:endParaRPr lang="en-US" dirty="0"/>
          </a:p>
        </p:txBody>
      </p:sp>
      <p:pic>
        <p:nvPicPr>
          <p:cNvPr id="2052" name="Picture 4">
            <a:extLst>
              <a:ext uri="{FF2B5EF4-FFF2-40B4-BE49-F238E27FC236}">
                <a16:creationId xmlns:a16="http://schemas.microsoft.com/office/drawing/2014/main" id="{96E166A5-B99D-9D89-682A-63AA3865CF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558" y="1473467"/>
            <a:ext cx="4838784" cy="50297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9" name="Google Shape;289;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CA" dirty="0"/>
              <a:t>Directory structure of project</a:t>
            </a:r>
            <a:endParaRPr dirty="0"/>
          </a:p>
        </p:txBody>
      </p:sp>
      <p:sp>
        <p:nvSpPr>
          <p:cNvPr id="290" name="Google Shape;29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CA"/>
              <a:t>5</a:t>
            </a:fld>
            <a:endParaRPr dirty="0"/>
          </a:p>
        </p:txBody>
      </p:sp>
      <p:sp>
        <p:nvSpPr>
          <p:cNvPr id="291" name="Google Shape;291;p10"/>
          <p:cNvSpPr/>
          <p:nvPr/>
        </p:nvSpPr>
        <p:spPr>
          <a:xfrm>
            <a:off x="708850" y="4285262"/>
            <a:ext cx="7131136" cy="16338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320"/>
              </a:spcBef>
              <a:spcAft>
                <a:spcPts val="0"/>
              </a:spcAft>
              <a:buClr>
                <a:schemeClr val="dk1"/>
              </a:buClr>
              <a:buSzPts val="1100"/>
              <a:buFont typeface="Arial"/>
              <a:buNone/>
            </a:pPr>
            <a:r>
              <a:rPr lang="en-US" sz="1600" dirty="0" err="1">
                <a:solidFill>
                  <a:schemeClr val="dk1"/>
                </a:solidFill>
                <a:latin typeface="Calibri"/>
                <a:ea typeface="Calibri"/>
                <a:cs typeface="Calibri"/>
                <a:sym typeface="Calibri"/>
              </a:rPr>
              <a:t>Github</a:t>
            </a:r>
            <a:r>
              <a:rPr lang="en-US" sz="1600" dirty="0">
                <a:solidFill>
                  <a:schemeClr val="dk1"/>
                </a:solidFill>
                <a:latin typeface="Calibri"/>
                <a:ea typeface="Calibri"/>
                <a:cs typeface="Calibri"/>
                <a:sym typeface="Calibri"/>
              </a:rPr>
              <a:t>: https://github.com/ngvanhak49/simple_compress</a:t>
            </a:r>
            <a:endParaRPr lang="en-US" sz="2000" b="1" dirty="0">
              <a:solidFill>
                <a:schemeClr val="dk1"/>
              </a:solidFill>
              <a:latin typeface="Calibri"/>
              <a:ea typeface="Calibri"/>
              <a:cs typeface="Calibri"/>
              <a:sym typeface="Calibri"/>
            </a:endParaRPr>
          </a:p>
        </p:txBody>
      </p:sp>
      <p:sp>
        <p:nvSpPr>
          <p:cNvPr id="295" name="Google Shape;295;p10"/>
          <p:cNvSpPr/>
          <p:nvPr/>
        </p:nvSpPr>
        <p:spPr>
          <a:xfrm>
            <a:off x="708850" y="1356550"/>
            <a:ext cx="2407200" cy="1846800"/>
          </a:xfrm>
          <a:prstGeom prst="rect">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320"/>
              </a:spcBef>
              <a:spcAft>
                <a:spcPts val="0"/>
              </a:spcAft>
              <a:buClr>
                <a:schemeClr val="dk1"/>
              </a:buClr>
              <a:buSzPts val="1100"/>
              <a:buFont typeface="Arial"/>
              <a:buNone/>
            </a:pPr>
            <a:r>
              <a:rPr lang="en-US" sz="1600" dirty="0" err="1">
                <a:solidFill>
                  <a:schemeClr val="dk1"/>
                </a:solidFill>
                <a:latin typeface="Calibri"/>
                <a:ea typeface="Calibri"/>
                <a:cs typeface="Calibri"/>
                <a:sym typeface="Calibri"/>
              </a:rPr>
              <a:t>Simple_compress</a:t>
            </a:r>
            <a:endParaRPr sz="1600" dirty="0">
              <a:solidFill>
                <a:schemeClr val="dk1"/>
              </a:solidFill>
              <a:latin typeface="Calibri"/>
              <a:ea typeface="Calibri"/>
              <a:cs typeface="Calibri"/>
              <a:sym typeface="Calibri"/>
            </a:endParaRPr>
          </a:p>
          <a:p>
            <a:pPr marL="0" lvl="0" indent="0" algn="l" rtl="0">
              <a:spcBef>
                <a:spcPts val="320"/>
              </a:spcBef>
              <a:spcAft>
                <a:spcPts val="0"/>
              </a:spcAft>
              <a:buClr>
                <a:schemeClr val="dk1"/>
              </a:buClr>
              <a:buSzPts val="1100"/>
              <a:buFont typeface="Arial"/>
              <a:buNone/>
            </a:pPr>
            <a:r>
              <a:rPr lang="en-CA" sz="1600" dirty="0">
                <a:solidFill>
                  <a:schemeClr val="dk1"/>
                </a:solidFill>
                <a:latin typeface="Calibri"/>
                <a:ea typeface="Calibri"/>
                <a:cs typeface="Calibri"/>
                <a:sym typeface="Calibri"/>
              </a:rPr>
              <a:t>├───.</a:t>
            </a:r>
            <a:r>
              <a:rPr lang="en-CA" sz="1600" dirty="0" err="1">
                <a:solidFill>
                  <a:schemeClr val="dk1"/>
                </a:solidFill>
                <a:latin typeface="Calibri"/>
                <a:ea typeface="Calibri"/>
                <a:cs typeface="Calibri"/>
                <a:sym typeface="Calibri"/>
              </a:rPr>
              <a:t>github</a:t>
            </a:r>
            <a:endParaRPr sz="1600" dirty="0">
              <a:solidFill>
                <a:schemeClr val="dk1"/>
              </a:solidFill>
              <a:latin typeface="Calibri"/>
              <a:ea typeface="Calibri"/>
              <a:cs typeface="Calibri"/>
              <a:sym typeface="Calibri"/>
            </a:endParaRPr>
          </a:p>
          <a:p>
            <a:pPr marL="0" lvl="0" indent="0" algn="l" rtl="0">
              <a:spcBef>
                <a:spcPts val="320"/>
              </a:spcBef>
              <a:spcAft>
                <a:spcPts val="0"/>
              </a:spcAft>
              <a:buClr>
                <a:schemeClr val="dk1"/>
              </a:buClr>
              <a:buSzPts val="1100"/>
              <a:buFont typeface="Arial"/>
              <a:buNone/>
            </a:pPr>
            <a:r>
              <a:rPr lang="en-CA" sz="1600" dirty="0">
                <a:solidFill>
                  <a:schemeClr val="dk1"/>
                </a:solidFill>
                <a:latin typeface="Calibri"/>
                <a:ea typeface="Calibri"/>
                <a:cs typeface="Calibri"/>
                <a:sym typeface="Calibri"/>
              </a:rPr>
              <a:t>│   └───workflows</a:t>
            </a:r>
            <a:endParaRPr sz="1600" dirty="0">
              <a:solidFill>
                <a:schemeClr val="dk1"/>
              </a:solidFill>
              <a:latin typeface="Calibri"/>
              <a:ea typeface="Calibri"/>
              <a:cs typeface="Calibri"/>
              <a:sym typeface="Calibri"/>
            </a:endParaRPr>
          </a:p>
          <a:p>
            <a:pPr marL="0" lvl="0" indent="0" algn="l" rtl="0">
              <a:spcBef>
                <a:spcPts val="320"/>
              </a:spcBef>
              <a:spcAft>
                <a:spcPts val="0"/>
              </a:spcAft>
              <a:buClr>
                <a:schemeClr val="dk1"/>
              </a:buClr>
              <a:buSzPts val="1100"/>
              <a:buFont typeface="Arial"/>
              <a:buNone/>
            </a:pPr>
            <a:r>
              <a:rPr lang="en-CA" sz="1600" dirty="0">
                <a:solidFill>
                  <a:schemeClr val="dk1"/>
                </a:solidFill>
                <a:latin typeface="Calibri"/>
                <a:ea typeface="Calibri"/>
                <a:cs typeface="Calibri"/>
                <a:sym typeface="Calibri"/>
              </a:rPr>
              <a:t>└───tests</a:t>
            </a:r>
            <a:endParaRPr sz="1600" dirty="0">
              <a:solidFill>
                <a:schemeClr val="dk1"/>
              </a:solidFill>
              <a:latin typeface="Calibri"/>
              <a:ea typeface="Calibri"/>
              <a:cs typeface="Calibri"/>
              <a:sym typeface="Calibri"/>
            </a:endParaRPr>
          </a:p>
          <a:p>
            <a:pPr marL="0" lvl="0" indent="0" algn="l" rtl="0">
              <a:spcBef>
                <a:spcPts val="320"/>
              </a:spcBef>
              <a:spcAft>
                <a:spcPts val="0"/>
              </a:spcAft>
              <a:buClr>
                <a:schemeClr val="dk1"/>
              </a:buClr>
              <a:buSzPts val="1100"/>
              <a:buFont typeface="Arial"/>
              <a:buNone/>
            </a:pPr>
            <a:r>
              <a:rPr lang="en-CA" sz="1600" dirty="0">
                <a:solidFill>
                  <a:schemeClr val="dk1"/>
                </a:solidFill>
                <a:latin typeface="Calibri"/>
                <a:ea typeface="Calibri"/>
                <a:cs typeface="Calibri"/>
                <a:sym typeface="Calibri"/>
              </a:rPr>
              <a:t>|   └───</a:t>
            </a:r>
            <a:r>
              <a:rPr lang="en-US" sz="1600" dirty="0">
                <a:solidFill>
                  <a:schemeClr val="dk1"/>
                </a:solidFill>
                <a:latin typeface="Calibri"/>
                <a:ea typeface="Calibri"/>
                <a:cs typeface="Calibri"/>
                <a:sym typeface="Calibri"/>
              </a:rPr>
              <a:t>testcase</a:t>
            </a:r>
          </a:p>
          <a:p>
            <a:pPr marL="0" lvl="0" indent="0" algn="l" rtl="0">
              <a:spcBef>
                <a:spcPts val="320"/>
              </a:spcBef>
              <a:spcAft>
                <a:spcPts val="0"/>
              </a:spcAft>
              <a:buClr>
                <a:schemeClr val="dk1"/>
              </a:buClr>
              <a:buSzPts val="1100"/>
              <a:buFont typeface="Arial"/>
              <a:buNone/>
            </a:pPr>
            <a:r>
              <a:rPr lang="en-US" sz="1600" dirty="0">
                <a:solidFill>
                  <a:schemeClr val="dk1"/>
                </a:solidFill>
                <a:latin typeface="Calibri"/>
                <a:ea typeface="Calibri"/>
                <a:cs typeface="Calibri"/>
                <a:sym typeface="Calibri"/>
              </a:rPr>
              <a:t>|___</a:t>
            </a:r>
            <a:r>
              <a:rPr lang="en-US" sz="1600" dirty="0" err="1">
                <a:solidFill>
                  <a:schemeClr val="dk1"/>
                </a:solidFill>
                <a:latin typeface="Calibri"/>
                <a:ea typeface="Calibri"/>
                <a:cs typeface="Calibri"/>
                <a:sym typeface="Calibri"/>
              </a:rPr>
              <a:t>Simple_compress.c</a:t>
            </a:r>
            <a:endParaRPr sz="1600" dirty="0">
              <a:solidFill>
                <a:schemeClr val="dk1"/>
              </a:solidFill>
              <a:latin typeface="Calibri"/>
              <a:ea typeface="Calibri"/>
              <a:cs typeface="Calibri"/>
              <a:sym typeface="Calibri"/>
            </a:endParaRPr>
          </a:p>
        </p:txBody>
      </p:sp>
      <p:sp>
        <p:nvSpPr>
          <p:cNvPr id="296" name="Google Shape;296;p10"/>
          <p:cNvSpPr/>
          <p:nvPr/>
        </p:nvSpPr>
        <p:spPr>
          <a:xfrm>
            <a:off x="3561300" y="1356556"/>
            <a:ext cx="2021400" cy="297600"/>
          </a:xfrm>
          <a:prstGeom prst="wedgeRectCallout">
            <a:avLst>
              <a:gd name="adj1" fmla="val -102915"/>
              <a:gd name="adj2" fmla="val 188733"/>
            </a:avLst>
          </a:prstGeom>
          <a:gradFill>
            <a:gsLst>
              <a:gs pos="0">
                <a:srgbClr val="3E7FCD"/>
              </a:gs>
              <a:gs pos="100000">
                <a:srgbClr val="96C0FF"/>
              </a:gs>
            </a:gsLst>
            <a:lin ang="16200038" scaled="0"/>
          </a:gradFill>
          <a:ln w="9525" cap="flat" cmpd="sng">
            <a:solidFill>
              <a:srgbClr val="4A7DBA"/>
            </a:solidFill>
            <a:prstDash val="solid"/>
            <a:round/>
            <a:headEnd type="none" w="sm" len="sm"/>
            <a:tailEnd type="none" w="sm" len="sm"/>
          </a:ln>
          <a:effectLst>
            <a:outerShdw blurRad="40000" dist="23000" dir="5400000" rotWithShape="0">
              <a:srgbClr val="000000">
                <a:alpha val="3451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CA" sz="1600">
                <a:solidFill>
                  <a:schemeClr val="dk1"/>
                </a:solidFill>
                <a:latin typeface="Calibri"/>
                <a:ea typeface="Calibri"/>
                <a:cs typeface="Calibri"/>
                <a:sym typeface="Calibri"/>
              </a:rPr>
              <a:t>Github CI</a:t>
            </a:r>
            <a:endParaRPr sz="1400" b="0" i="0" u="none" strike="noStrike" cap="none">
              <a:solidFill>
                <a:srgbClr val="000000"/>
              </a:solidFill>
              <a:latin typeface="Arial"/>
              <a:ea typeface="Arial"/>
              <a:cs typeface="Arial"/>
              <a:sym typeface="Arial"/>
            </a:endParaRPr>
          </a:p>
        </p:txBody>
      </p:sp>
      <p:sp>
        <p:nvSpPr>
          <p:cNvPr id="297" name="Google Shape;297;p10"/>
          <p:cNvSpPr/>
          <p:nvPr/>
        </p:nvSpPr>
        <p:spPr>
          <a:xfrm>
            <a:off x="3561300" y="1924963"/>
            <a:ext cx="2021400" cy="297600"/>
          </a:xfrm>
          <a:prstGeom prst="wedgeRectCallout">
            <a:avLst>
              <a:gd name="adj1" fmla="val -102915"/>
              <a:gd name="adj2" fmla="val 188733"/>
            </a:avLst>
          </a:prstGeom>
          <a:gradFill>
            <a:gsLst>
              <a:gs pos="0">
                <a:srgbClr val="3E7FCD"/>
              </a:gs>
              <a:gs pos="100000">
                <a:srgbClr val="96C0FF"/>
              </a:gs>
            </a:gsLst>
            <a:lin ang="16200038" scaled="0"/>
          </a:gradFill>
          <a:ln w="9525" cap="flat" cmpd="sng">
            <a:solidFill>
              <a:srgbClr val="4A7DBA"/>
            </a:solidFill>
            <a:prstDash val="solid"/>
            <a:round/>
            <a:headEnd type="none" w="sm" len="sm"/>
            <a:tailEnd type="none" w="sm" len="sm"/>
          </a:ln>
          <a:effectLst>
            <a:outerShdw blurRad="40000" dist="23000" dir="5400000" rotWithShape="0">
              <a:srgbClr val="000000">
                <a:alpha val="3451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CA" sz="1600" dirty="0">
                <a:solidFill>
                  <a:schemeClr val="dk1"/>
                </a:solidFill>
                <a:latin typeface="Calibri"/>
                <a:ea typeface="Calibri"/>
                <a:cs typeface="Calibri"/>
                <a:sym typeface="Calibri"/>
              </a:rPr>
              <a:t>Testing</a:t>
            </a:r>
            <a:endParaRPr sz="1400" b="0" i="0" u="none" strike="noStrike" cap="none" dirty="0">
              <a:solidFill>
                <a:srgbClr val="000000"/>
              </a:solidFill>
              <a:latin typeface="Arial"/>
              <a:ea typeface="Arial"/>
              <a:cs typeface="Arial"/>
              <a:sym typeface="Arial"/>
            </a:endParaRPr>
          </a:p>
        </p:txBody>
      </p:sp>
      <p:sp>
        <p:nvSpPr>
          <p:cNvPr id="300" name="Google Shape;300;p10"/>
          <p:cNvSpPr/>
          <p:nvPr/>
        </p:nvSpPr>
        <p:spPr>
          <a:xfrm>
            <a:off x="3561300" y="3761917"/>
            <a:ext cx="2021400" cy="297600"/>
          </a:xfrm>
          <a:prstGeom prst="wedgeRectCallout">
            <a:avLst>
              <a:gd name="adj1" fmla="val -23203"/>
              <a:gd name="adj2" fmla="val 92152"/>
            </a:avLst>
          </a:prstGeom>
          <a:gradFill>
            <a:gsLst>
              <a:gs pos="0">
                <a:srgbClr val="DCECD5"/>
              </a:gs>
              <a:gs pos="100000">
                <a:srgbClr val="92BC81"/>
              </a:gs>
            </a:gsLst>
            <a:lin ang="5400012" scaled="0"/>
          </a:gradFill>
          <a:ln w="9525" cap="flat" cmpd="sng">
            <a:solidFill>
              <a:srgbClr val="4A7DBA"/>
            </a:solidFill>
            <a:prstDash val="solid"/>
            <a:round/>
            <a:headEnd type="none" w="sm" len="sm"/>
            <a:tailEnd type="none" w="sm" len="sm"/>
          </a:ln>
          <a:effectLst>
            <a:outerShdw blurRad="40000" dist="23000" dir="5400000" rotWithShape="0">
              <a:srgbClr val="000000">
                <a:alpha val="3451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CA" sz="1600">
                <a:solidFill>
                  <a:schemeClr val="dk1"/>
                </a:solidFill>
                <a:latin typeface="Calibri"/>
                <a:ea typeface="Calibri"/>
                <a:cs typeface="Calibri"/>
                <a:sym typeface="Calibri"/>
              </a:rPr>
              <a:t>Source code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8"/>
        <p:cNvGrpSpPr/>
        <p:nvPr/>
      </p:nvGrpSpPr>
      <p:grpSpPr>
        <a:xfrm>
          <a:off x="0" y="0"/>
          <a:ext cx="0" cy="0"/>
          <a:chOff x="0" y="0"/>
          <a:chExt cx="0" cy="0"/>
        </a:xfrm>
      </p:grpSpPr>
      <p:sp>
        <p:nvSpPr>
          <p:cNvPr id="329" name="Google Shape;329;p15"/>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 name="Google Shape;330;p15"/>
          <p:cNvSpPr/>
          <p:nvPr/>
        </p:nvSpPr>
        <p:spPr>
          <a:xfrm rot="10800000">
            <a:off x="-8792" y="-1"/>
            <a:ext cx="9169464" cy="6868071"/>
          </a:xfrm>
          <a:prstGeom prst="rect">
            <a:avLst/>
          </a:prstGeom>
          <a:gradFill>
            <a:gsLst>
              <a:gs pos="0">
                <a:srgbClr val="000000"/>
              </a:gs>
              <a:gs pos="100000">
                <a:srgbClr val="366092"/>
              </a:gs>
            </a:gsLst>
            <a:lin ang="4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1" name="Google Shape;331;p15"/>
          <p:cNvSpPr/>
          <p:nvPr/>
        </p:nvSpPr>
        <p:spPr>
          <a:xfrm rot="10800000" flipH="1">
            <a:off x="331469" y="-3"/>
            <a:ext cx="8829202" cy="6868074"/>
          </a:xfrm>
          <a:prstGeom prst="rect">
            <a:avLst/>
          </a:prstGeom>
          <a:gradFill>
            <a:gsLst>
              <a:gs pos="0">
                <a:srgbClr val="244061">
                  <a:alpha val="82352"/>
                </a:srgbClr>
              </a:gs>
              <a:gs pos="21000">
                <a:srgbClr val="244061">
                  <a:alpha val="82352"/>
                </a:srgbClr>
              </a:gs>
              <a:gs pos="100000">
                <a:srgbClr val="4F81BD">
                  <a:alpha val="0"/>
                </a:srgbClr>
              </a:gs>
            </a:gsLst>
            <a:lin ang="8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2" name="Google Shape;332;p15"/>
          <p:cNvSpPr/>
          <p:nvPr/>
        </p:nvSpPr>
        <p:spPr>
          <a:xfrm rot="10800000">
            <a:off x="-11400" y="0"/>
            <a:ext cx="2717530" cy="6868072"/>
          </a:xfrm>
          <a:prstGeom prst="rect">
            <a:avLst/>
          </a:prstGeom>
          <a:gradFill>
            <a:gsLst>
              <a:gs pos="0">
                <a:srgbClr val="366092">
                  <a:alpha val="0"/>
                </a:srgbClr>
              </a:gs>
              <a:gs pos="99000">
                <a:srgbClr val="000000">
                  <a:alpha val="40392"/>
                </a:srgbClr>
              </a:gs>
              <a:gs pos="100000">
                <a:srgbClr val="000000">
                  <a:alpha val="40392"/>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 name="Google Shape;333;p15"/>
          <p:cNvSpPr/>
          <p:nvPr/>
        </p:nvSpPr>
        <p:spPr>
          <a:xfrm flipH="1">
            <a:off x="-11906" y="-3"/>
            <a:ext cx="9175185" cy="6868076"/>
          </a:xfrm>
          <a:prstGeom prst="rect">
            <a:avLst/>
          </a:prstGeom>
          <a:gradFill>
            <a:gsLst>
              <a:gs pos="0">
                <a:srgbClr val="366092">
                  <a:alpha val="0"/>
                </a:srgbClr>
              </a:gs>
              <a:gs pos="3000">
                <a:srgbClr val="366092">
                  <a:alpha val="0"/>
                </a:srgbClr>
              </a:gs>
              <a:gs pos="100000">
                <a:srgbClr val="000000">
                  <a:alpha val="72549"/>
                </a:srgbClr>
              </a:gs>
            </a:gsLst>
            <a:lin ang="17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 name="Google Shape;334;p15"/>
          <p:cNvSpPr/>
          <p:nvPr/>
        </p:nvSpPr>
        <p:spPr>
          <a:xfrm rot="5400000" flipH="1">
            <a:off x="2505509" y="212908"/>
            <a:ext cx="6861931" cy="6448394"/>
          </a:xfrm>
          <a:prstGeom prst="rect">
            <a:avLst/>
          </a:prstGeom>
          <a:gradFill>
            <a:gsLst>
              <a:gs pos="0">
                <a:srgbClr val="366092">
                  <a:alpha val="0"/>
                </a:srgbClr>
              </a:gs>
              <a:gs pos="3000">
                <a:srgbClr val="366092">
                  <a:alpha val="0"/>
                </a:srgbClr>
              </a:gs>
              <a:gs pos="100000">
                <a:srgbClr val="000000">
                  <a:alpha val="26274"/>
                </a:srgbClr>
              </a:gs>
            </a:gsLst>
            <a:lin ang="1380000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5" name="Google Shape;335;p15"/>
          <p:cNvSpPr/>
          <p:nvPr/>
        </p:nvSpPr>
        <p:spPr>
          <a:xfrm rot="5993193">
            <a:off x="269287" y="1712598"/>
            <a:ext cx="4967533" cy="3741293"/>
          </a:xfrm>
          <a:prstGeom prst="ellipse">
            <a:avLst/>
          </a:prstGeom>
          <a:gradFill>
            <a:gsLst>
              <a:gs pos="0">
                <a:srgbClr val="4F81BD">
                  <a:alpha val="25490"/>
                </a:srgbClr>
              </a:gs>
              <a:gs pos="85000">
                <a:srgbClr val="93B3D7">
                  <a:alpha val="0"/>
                </a:srgbClr>
              </a:gs>
              <a:gs pos="100000">
                <a:srgbClr val="93B3D7">
                  <a:alpha val="0"/>
                </a:srgbClr>
              </a:gs>
            </a:gsLst>
            <a:lin ang="14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6" name="Google Shape;336;p15"/>
          <p:cNvSpPr txBox="1">
            <a:spLocks noGrp="1"/>
          </p:cNvSpPr>
          <p:nvPr>
            <p:ph type="ctrTitle"/>
          </p:nvPr>
        </p:nvSpPr>
        <p:spPr>
          <a:xfrm>
            <a:off x="3121925" y="818984"/>
            <a:ext cx="5036024" cy="3178689"/>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4200"/>
              <a:buFont typeface="Calibri"/>
              <a:buNone/>
            </a:pPr>
            <a:r>
              <a:rPr lang="en-CA" sz="4200">
                <a:solidFill>
                  <a:srgbClr val="FFFFFF"/>
                </a:solidFill>
              </a:rPr>
              <a:t>Test Report</a:t>
            </a:r>
            <a:endParaRPr/>
          </a:p>
        </p:txBody>
      </p:sp>
      <p:sp>
        <p:nvSpPr>
          <p:cNvPr id="337" name="Google Shape;337;p15"/>
          <p:cNvSpPr/>
          <p:nvPr/>
        </p:nvSpPr>
        <p:spPr>
          <a:xfrm flipH="1">
            <a:off x="-2" y="4490110"/>
            <a:ext cx="9163282" cy="2377962"/>
          </a:xfrm>
          <a:prstGeom prst="rect">
            <a:avLst/>
          </a:prstGeom>
          <a:gradFill>
            <a:gsLst>
              <a:gs pos="0">
                <a:srgbClr val="366092">
                  <a:alpha val="49411"/>
                </a:srgbClr>
              </a:gs>
              <a:gs pos="99000">
                <a:srgbClr val="000000">
                  <a:alpha val="33333"/>
                </a:srgbClr>
              </a:gs>
              <a:gs pos="100000">
                <a:srgbClr val="000000">
                  <a:alpha val="33333"/>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 name="Google Shape;338;p15"/>
          <p:cNvSpPr txBox="1">
            <a:spLocks noGrp="1"/>
          </p:cNvSpPr>
          <p:nvPr>
            <p:ph type="subTitle" idx="1"/>
          </p:nvPr>
        </p:nvSpPr>
        <p:spPr>
          <a:xfrm>
            <a:off x="3214047" y="4960961"/>
            <a:ext cx="5291920" cy="107805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2700"/>
              <a:buNone/>
            </a:pPr>
            <a:r>
              <a:rPr lang="en-CA" sz="2700" dirty="0">
                <a:solidFill>
                  <a:srgbClr val="FFFFFF"/>
                </a:solidFill>
              </a:rPr>
              <a:t>Compress and Decompress</a:t>
            </a:r>
            <a:endParaRPr dirty="0"/>
          </a:p>
        </p:txBody>
      </p:sp>
      <p:sp>
        <p:nvSpPr>
          <p:cNvPr id="339" name="Google Shape;3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CA"/>
              <a:t>6</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336"/>
                                        </p:tgtEl>
                                        <p:attrNameLst>
                                          <p:attrName>style.visibility</p:attrName>
                                        </p:attrNameLst>
                                      </p:cBhvr>
                                      <p:to>
                                        <p:strVal val="visible"/>
                                      </p:to>
                                    </p:set>
                                    <p:animEffect transition="in" filter="fade">
                                      <p:cBhvr>
                                        <p:cTn id="7" dur="400"/>
                                        <p:tgtEl>
                                          <p:spTgt spid="336"/>
                                        </p:tgtEl>
                                      </p:cBhvr>
                                    </p:animEffect>
                                  </p:childTnLst>
                                </p:cTn>
                              </p:par>
                              <p:par>
                                <p:cTn id="8" presetID="10" presetClass="entr" presetSubtype="0" fill="hold" nodeType="withEffect">
                                  <p:stCondLst>
                                    <p:cond delay="2000"/>
                                  </p:stCondLst>
                                  <p:childTnLst>
                                    <p:set>
                                      <p:cBhvr>
                                        <p:cTn id="9" dur="1" fill="hold">
                                          <p:stCondLst>
                                            <p:cond delay="0"/>
                                          </p:stCondLst>
                                        </p:cTn>
                                        <p:tgtEl>
                                          <p:spTgt spid="338">
                                            <p:txEl>
                                              <p:pRg st="0" end="0"/>
                                            </p:txEl>
                                          </p:spTgt>
                                        </p:tgtEl>
                                        <p:attrNameLst>
                                          <p:attrName>style.visibility</p:attrName>
                                        </p:attrNameLst>
                                      </p:cBhvr>
                                      <p:to>
                                        <p:strVal val="visible"/>
                                      </p:to>
                                    </p:set>
                                    <p:animEffect transition="in" filter="fade">
                                      <p:cBhvr>
                                        <p:cTn id="10" dur="400"/>
                                        <p:tgtEl>
                                          <p:spTgt spid="3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4400"/>
              <a:buFont typeface="Calibri"/>
              <a:buNone/>
            </a:pPr>
            <a:r>
              <a:rPr lang="en-CA" dirty="0"/>
              <a:t>Test report - Critical cases only</a:t>
            </a:r>
            <a:endParaRPr dirty="0"/>
          </a:p>
        </p:txBody>
      </p:sp>
      <p:sp>
        <p:nvSpPr>
          <p:cNvPr id="345" name="Google Shape;345;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CA"/>
              <a:t>7</a:t>
            </a:fld>
            <a:endParaRPr/>
          </a:p>
        </p:txBody>
      </p:sp>
      <p:graphicFrame>
        <p:nvGraphicFramePr>
          <p:cNvPr id="2" name="Table 1">
            <a:extLst>
              <a:ext uri="{FF2B5EF4-FFF2-40B4-BE49-F238E27FC236}">
                <a16:creationId xmlns:a16="http://schemas.microsoft.com/office/drawing/2014/main" id="{D542A297-8BC0-3F7F-6665-EF0CB9213335}"/>
              </a:ext>
            </a:extLst>
          </p:cNvPr>
          <p:cNvGraphicFramePr>
            <a:graphicFrameLocks noGrp="1"/>
          </p:cNvGraphicFramePr>
          <p:nvPr>
            <p:extLst>
              <p:ext uri="{D42A27DB-BD31-4B8C-83A1-F6EECF244321}">
                <p14:modId xmlns:p14="http://schemas.microsoft.com/office/powerpoint/2010/main" val="2063924499"/>
              </p:ext>
            </p:extLst>
          </p:nvPr>
        </p:nvGraphicFramePr>
        <p:xfrm>
          <a:off x="763325" y="1600199"/>
          <a:ext cx="7633251" cy="2574234"/>
        </p:xfrm>
        <a:graphic>
          <a:graphicData uri="http://schemas.openxmlformats.org/drawingml/2006/table">
            <a:tbl>
              <a:tblPr/>
              <a:tblGrid>
                <a:gridCol w="547589">
                  <a:extLst>
                    <a:ext uri="{9D8B030D-6E8A-4147-A177-3AD203B41FA5}">
                      <a16:colId xmlns:a16="http://schemas.microsoft.com/office/drawing/2014/main" val="3870091170"/>
                    </a:ext>
                  </a:extLst>
                </a:gridCol>
                <a:gridCol w="1128164">
                  <a:extLst>
                    <a:ext uri="{9D8B030D-6E8A-4147-A177-3AD203B41FA5}">
                      <a16:colId xmlns:a16="http://schemas.microsoft.com/office/drawing/2014/main" val="1366143999"/>
                    </a:ext>
                  </a:extLst>
                </a:gridCol>
                <a:gridCol w="3292127">
                  <a:extLst>
                    <a:ext uri="{9D8B030D-6E8A-4147-A177-3AD203B41FA5}">
                      <a16:colId xmlns:a16="http://schemas.microsoft.com/office/drawing/2014/main" val="811654269"/>
                    </a:ext>
                  </a:extLst>
                </a:gridCol>
                <a:gridCol w="409042">
                  <a:extLst>
                    <a:ext uri="{9D8B030D-6E8A-4147-A177-3AD203B41FA5}">
                      <a16:colId xmlns:a16="http://schemas.microsoft.com/office/drawing/2014/main" val="3648369864"/>
                    </a:ext>
                  </a:extLst>
                </a:gridCol>
                <a:gridCol w="686135">
                  <a:extLst>
                    <a:ext uri="{9D8B030D-6E8A-4147-A177-3AD203B41FA5}">
                      <a16:colId xmlns:a16="http://schemas.microsoft.com/office/drawing/2014/main" val="3563934561"/>
                    </a:ext>
                  </a:extLst>
                </a:gridCol>
                <a:gridCol w="514601">
                  <a:extLst>
                    <a:ext uri="{9D8B030D-6E8A-4147-A177-3AD203B41FA5}">
                      <a16:colId xmlns:a16="http://schemas.microsoft.com/office/drawing/2014/main" val="3121523880"/>
                    </a:ext>
                  </a:extLst>
                </a:gridCol>
                <a:gridCol w="1055593">
                  <a:extLst>
                    <a:ext uri="{9D8B030D-6E8A-4147-A177-3AD203B41FA5}">
                      <a16:colId xmlns:a16="http://schemas.microsoft.com/office/drawing/2014/main" val="2386648692"/>
                    </a:ext>
                  </a:extLst>
                </a:gridCol>
              </a:tblGrid>
              <a:tr h="702064">
                <a:tc>
                  <a:txBody>
                    <a:bodyPr/>
                    <a:lstStyle/>
                    <a:p>
                      <a:pPr algn="ctr" rtl="0" fontAlgn="ctr"/>
                      <a:r>
                        <a:rPr lang="en-US" sz="700" b="1">
                          <a:solidFill>
                            <a:srgbClr val="E8E8E8"/>
                          </a:solidFill>
                          <a:effectLst/>
                        </a:rPr>
                        <a:t>Test Case Number</a:t>
                      </a:r>
                    </a:p>
                  </a:txBody>
                  <a:tcPr marL="15154" marR="15154" marT="0" marB="0" anchor="ctr">
                    <a:lnL w="19050"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070C0"/>
                    </a:solidFill>
                  </a:tcPr>
                </a:tc>
                <a:tc>
                  <a:txBody>
                    <a:bodyPr/>
                    <a:lstStyle/>
                    <a:p>
                      <a:pPr algn="ctr" rtl="0" fontAlgn="ctr"/>
                      <a:r>
                        <a:rPr lang="en-US" sz="700" b="1">
                          <a:solidFill>
                            <a:srgbClr val="E8E8E8"/>
                          </a:solidFill>
                          <a:effectLst/>
                        </a:rPr>
                        <a:t>Group of Test Case</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070C0"/>
                    </a:solidFill>
                  </a:tcPr>
                </a:tc>
                <a:tc>
                  <a:txBody>
                    <a:bodyPr/>
                    <a:lstStyle/>
                    <a:p>
                      <a:pPr algn="ctr" rtl="0" fontAlgn="ctr"/>
                      <a:r>
                        <a:rPr lang="en-US" sz="700" b="1">
                          <a:solidFill>
                            <a:srgbClr val="E8E8E8"/>
                          </a:solidFill>
                          <a:effectLst/>
                        </a:rPr>
                        <a:t>Test Case Name and Description</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070C0"/>
                    </a:solidFill>
                  </a:tcPr>
                </a:tc>
                <a:tc>
                  <a:txBody>
                    <a:bodyPr/>
                    <a:lstStyle/>
                    <a:p>
                      <a:pPr algn="ctr" rtl="0" fontAlgn="ctr"/>
                      <a:r>
                        <a:rPr lang="en-US" sz="700" b="1">
                          <a:solidFill>
                            <a:srgbClr val="E8E8E8"/>
                          </a:solidFill>
                          <a:effectLst/>
                        </a:rPr>
                        <a:t>Test Result</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070C0"/>
                    </a:solidFill>
                  </a:tcPr>
                </a:tc>
                <a:tc>
                  <a:txBody>
                    <a:bodyPr/>
                    <a:lstStyle/>
                    <a:p>
                      <a:pPr algn="ctr" rtl="0" fontAlgn="ctr"/>
                      <a:r>
                        <a:rPr lang="en-US" sz="700" b="1">
                          <a:solidFill>
                            <a:srgbClr val="E8E8E8"/>
                          </a:solidFill>
                          <a:effectLst/>
                        </a:rPr>
                        <a:t>Test Date</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070C0"/>
                    </a:solidFill>
                  </a:tcPr>
                </a:tc>
                <a:tc>
                  <a:txBody>
                    <a:bodyPr/>
                    <a:lstStyle/>
                    <a:p>
                      <a:pPr algn="ctr" rtl="0" fontAlgn="ctr"/>
                      <a:r>
                        <a:rPr lang="en-US" sz="700" b="1">
                          <a:solidFill>
                            <a:srgbClr val="E8E8E8"/>
                          </a:solidFill>
                          <a:effectLst/>
                        </a:rPr>
                        <a:t>PIC</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070C0"/>
                    </a:solidFill>
                  </a:tcPr>
                </a:tc>
                <a:tc>
                  <a:txBody>
                    <a:bodyPr/>
                    <a:lstStyle/>
                    <a:p>
                      <a:pPr algn="ctr" rtl="0" fontAlgn="ctr"/>
                      <a:r>
                        <a:rPr lang="en-US" sz="700" b="1">
                          <a:solidFill>
                            <a:srgbClr val="E8E8E8"/>
                          </a:solidFill>
                          <a:effectLst/>
                        </a:rPr>
                        <a:t>Remark</a:t>
                      </a:r>
                    </a:p>
                  </a:txBody>
                  <a:tcPr marL="15154" marR="15154" marT="0" marB="0" anchor="ctr">
                    <a:lnL w="9525" cap="flat" cmpd="sng" algn="ctr">
                      <a:solidFill>
                        <a:srgbClr val="CCCCCC"/>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070C0"/>
                    </a:solidFill>
                  </a:tcPr>
                </a:tc>
                <a:extLst>
                  <a:ext uri="{0D108BD9-81ED-4DB2-BD59-A6C34878D82A}">
                    <a16:rowId xmlns:a16="http://schemas.microsoft.com/office/drawing/2014/main" val="1747053958"/>
                  </a:ext>
                </a:extLst>
              </a:tr>
              <a:tr h="468042">
                <a:tc>
                  <a:txBody>
                    <a:bodyPr/>
                    <a:lstStyle/>
                    <a:p>
                      <a:pPr algn="ctr" rtl="0" fontAlgn="ctr"/>
                      <a:r>
                        <a:rPr lang="en-US" sz="1000" dirty="0">
                          <a:effectLst/>
                        </a:rPr>
                        <a:t>TC-01</a:t>
                      </a:r>
                    </a:p>
                  </a:txBody>
                  <a:tcPr marL="15154" marR="15154" marT="0" marB="0" anchor="ctr">
                    <a:lnL w="19050"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ctr"/>
                      <a:r>
                        <a:rPr lang="en-US" sz="1000" dirty="0">
                          <a:effectLst/>
                        </a:rPr>
                        <a:t>Short data (10 bytes) with compression</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ctr"/>
                      <a:r>
                        <a:rPr lang="en-US" sz="1000" dirty="0">
                          <a:effectLst/>
                        </a:rPr>
                        <a:t>Simulate short array incudes same data</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ctr"/>
                      <a:r>
                        <a:rPr lang="en-US" sz="1000" dirty="0">
                          <a:solidFill>
                            <a:srgbClr val="006100"/>
                          </a:solidFill>
                          <a:effectLst/>
                        </a:rPr>
                        <a:t> OK</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6EFCE"/>
                    </a:solidFill>
                  </a:tcPr>
                </a:tc>
                <a:tc>
                  <a:txBody>
                    <a:bodyPr/>
                    <a:lstStyle/>
                    <a:p>
                      <a:pPr algn="ctr" rtl="0" fontAlgn="ctr"/>
                      <a:r>
                        <a:rPr lang="en-US" sz="1000" b="0" dirty="0">
                          <a:effectLst/>
                          <a:latin typeface="Arial" panose="020B0604020202020204" pitchFamily="34" charset="0"/>
                        </a:rPr>
                        <a:t>17/11/2025</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ctr"/>
                      <a:r>
                        <a:rPr lang="en-US" sz="1000">
                          <a:effectLst/>
                        </a:rPr>
                        <a:t>Thomas</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ctr"/>
                      <a:endParaRPr lang="en-US" sz="1000">
                        <a:effectLst/>
                      </a:endParaRPr>
                    </a:p>
                  </a:txBody>
                  <a:tcPr marL="15154" marR="15154" marT="0" marB="0" anchor="ctr">
                    <a:lnL w="9525" cap="flat" cmpd="sng" algn="ctr">
                      <a:solidFill>
                        <a:srgbClr val="CCCCCC"/>
                      </a:solidFill>
                      <a:prstDash val="solid"/>
                      <a:round/>
                      <a:headEnd type="none" w="med" len="med"/>
                      <a:tailEnd type="none" w="med" len="med"/>
                    </a:lnL>
                    <a:lnR w="19050"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253663486"/>
                  </a:ext>
                </a:extLst>
              </a:tr>
              <a:tr h="702064">
                <a:tc>
                  <a:txBody>
                    <a:bodyPr/>
                    <a:lstStyle/>
                    <a:p>
                      <a:pPr algn="ctr" rtl="0" fontAlgn="ctr"/>
                      <a:r>
                        <a:rPr lang="en-US" sz="1000">
                          <a:effectLst/>
                        </a:rPr>
                        <a:t>TC-02</a:t>
                      </a:r>
                    </a:p>
                  </a:txBody>
                  <a:tcPr marL="15154" marR="15154" marT="0" marB="0" anchor="ctr">
                    <a:lnL w="19050"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ctr"/>
                      <a:r>
                        <a:rPr lang="en-US" sz="1000" dirty="0" err="1">
                          <a:effectLst/>
                        </a:rPr>
                        <a:t>Larg</a:t>
                      </a:r>
                      <a:r>
                        <a:rPr lang="en-US" sz="1000" dirty="0">
                          <a:effectLst/>
                        </a:rPr>
                        <a:t> array, large same bytes</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ctr"/>
                      <a:r>
                        <a:rPr lang="en-US" sz="1000" dirty="0">
                          <a:effectLst/>
                        </a:rPr>
                        <a:t>Long data (2000 bytes) with 130 consecutive bytes and 10 consecutive bytes</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ctr"/>
                      <a:r>
                        <a:rPr lang="en-US" sz="1000">
                          <a:solidFill>
                            <a:srgbClr val="006100"/>
                          </a:solidFill>
                          <a:effectLst/>
                        </a:rPr>
                        <a:t>OK</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6EFCE"/>
                    </a:solidFill>
                  </a:tcPr>
                </a:tc>
                <a:tc>
                  <a:txBody>
                    <a:bodyPr/>
                    <a:lstStyle/>
                    <a:p>
                      <a:pPr algn="ctr" rtl="0" fontAlgn="ctr"/>
                      <a:r>
                        <a:rPr lang="en-US" sz="1000" b="0">
                          <a:effectLst/>
                          <a:latin typeface="Arial" panose="020B0604020202020204" pitchFamily="34" charset="0"/>
                        </a:rPr>
                        <a:t>17/11/2025</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ctr"/>
                      <a:r>
                        <a:rPr lang="en-US" sz="1000">
                          <a:effectLst/>
                        </a:rPr>
                        <a:t>Thomas</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ctr"/>
                      <a:endParaRPr lang="en-US" sz="1000" dirty="0">
                        <a:effectLst/>
                      </a:endParaRPr>
                    </a:p>
                  </a:txBody>
                  <a:tcPr marL="15154" marR="15154" marT="0" marB="0" anchor="ctr">
                    <a:lnL w="9525" cap="flat" cmpd="sng" algn="ctr">
                      <a:solidFill>
                        <a:srgbClr val="CCCCCC"/>
                      </a:solidFill>
                      <a:prstDash val="solid"/>
                      <a:round/>
                      <a:headEnd type="none" w="med" len="med"/>
                      <a:tailEnd type="none" w="med" len="med"/>
                    </a:lnL>
                    <a:lnR w="19050"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343808193"/>
                  </a:ext>
                </a:extLst>
              </a:tr>
              <a:tr h="702064">
                <a:tc>
                  <a:txBody>
                    <a:bodyPr/>
                    <a:lstStyle/>
                    <a:p>
                      <a:pPr algn="ctr" rtl="0" fontAlgn="ctr"/>
                      <a:r>
                        <a:rPr lang="en-US" sz="1000">
                          <a:effectLst/>
                        </a:rPr>
                        <a:t>TC-03</a:t>
                      </a:r>
                    </a:p>
                  </a:txBody>
                  <a:tcPr marL="15154" marR="15154" marT="0" marB="0" anchor="ctr">
                    <a:lnL w="19050"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ctr"/>
                      <a:r>
                        <a:rPr lang="en-US" sz="1000" dirty="0">
                          <a:effectLst/>
                        </a:rPr>
                        <a:t>No compress</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ctr"/>
                      <a:r>
                        <a:rPr lang="en-US" sz="1000" dirty="0">
                          <a:effectLst/>
                        </a:rPr>
                        <a:t>Short data with no repetition</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ctr"/>
                      <a:r>
                        <a:rPr lang="en-US" sz="1000" dirty="0">
                          <a:solidFill>
                            <a:srgbClr val="006100"/>
                          </a:solidFill>
                          <a:effectLst/>
                        </a:rPr>
                        <a:t>OK</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C6EFCE"/>
                    </a:solidFill>
                  </a:tcPr>
                </a:tc>
                <a:tc>
                  <a:txBody>
                    <a:bodyPr/>
                    <a:lstStyle/>
                    <a:p>
                      <a:pPr algn="ctr" rtl="0" fontAlgn="ctr"/>
                      <a:r>
                        <a:rPr lang="en-US" sz="1000" b="0" dirty="0">
                          <a:effectLst/>
                          <a:latin typeface="Arial" panose="020B0604020202020204" pitchFamily="34" charset="0"/>
                        </a:rPr>
                        <a:t>17/11/2025</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ctr" rtl="0" fontAlgn="ctr"/>
                      <a:r>
                        <a:rPr lang="en-US" sz="1000" dirty="0">
                          <a:effectLst/>
                        </a:rPr>
                        <a:t>Thomas</a:t>
                      </a:r>
                    </a:p>
                  </a:txBody>
                  <a:tcPr marL="15154" marR="15154"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rtl="0" fontAlgn="ctr"/>
                      <a:endParaRPr lang="en-US" sz="1000" dirty="0">
                        <a:effectLst/>
                      </a:endParaRPr>
                    </a:p>
                  </a:txBody>
                  <a:tcPr marL="15154" marR="15154" marT="0" marB="0" anchor="ctr">
                    <a:lnL w="9525" cap="flat" cmpd="sng" algn="ctr">
                      <a:solidFill>
                        <a:srgbClr val="CCCCCC"/>
                      </a:solidFill>
                      <a:prstDash val="solid"/>
                      <a:round/>
                      <a:headEnd type="none" w="med" len="med"/>
                      <a:tailEnd type="none" w="med" len="med"/>
                    </a:lnL>
                    <a:lnR w="19050"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65505102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8">
          <a:extLst>
            <a:ext uri="{FF2B5EF4-FFF2-40B4-BE49-F238E27FC236}">
              <a16:creationId xmlns:a16="http://schemas.microsoft.com/office/drawing/2014/main" id="{5127AD49-B7FD-C5CC-96F2-7A8B2EAC6BE9}"/>
            </a:ext>
          </a:extLst>
        </p:cNvPr>
        <p:cNvGrpSpPr/>
        <p:nvPr/>
      </p:nvGrpSpPr>
      <p:grpSpPr>
        <a:xfrm>
          <a:off x="0" y="0"/>
          <a:ext cx="0" cy="0"/>
          <a:chOff x="0" y="0"/>
          <a:chExt cx="0" cy="0"/>
        </a:xfrm>
      </p:grpSpPr>
      <p:sp>
        <p:nvSpPr>
          <p:cNvPr id="329" name="Google Shape;329;p15">
            <a:extLst>
              <a:ext uri="{FF2B5EF4-FFF2-40B4-BE49-F238E27FC236}">
                <a16:creationId xmlns:a16="http://schemas.microsoft.com/office/drawing/2014/main" id="{354DA80D-8B51-0D3A-70D8-90F2011C021A}"/>
              </a:ext>
            </a:extLst>
          </p:cNvPr>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0" name="Google Shape;330;p15">
            <a:extLst>
              <a:ext uri="{FF2B5EF4-FFF2-40B4-BE49-F238E27FC236}">
                <a16:creationId xmlns:a16="http://schemas.microsoft.com/office/drawing/2014/main" id="{2AB8D9E9-15ED-9582-1454-344312477352}"/>
              </a:ext>
            </a:extLst>
          </p:cNvPr>
          <p:cNvSpPr/>
          <p:nvPr/>
        </p:nvSpPr>
        <p:spPr>
          <a:xfrm rot="10800000">
            <a:off x="-8792" y="-1"/>
            <a:ext cx="9169464" cy="6868071"/>
          </a:xfrm>
          <a:prstGeom prst="rect">
            <a:avLst/>
          </a:prstGeom>
          <a:gradFill>
            <a:gsLst>
              <a:gs pos="0">
                <a:srgbClr val="000000"/>
              </a:gs>
              <a:gs pos="100000">
                <a:srgbClr val="366092"/>
              </a:gs>
            </a:gsLst>
            <a:lin ang="4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1" name="Google Shape;331;p15">
            <a:extLst>
              <a:ext uri="{FF2B5EF4-FFF2-40B4-BE49-F238E27FC236}">
                <a16:creationId xmlns:a16="http://schemas.microsoft.com/office/drawing/2014/main" id="{951D44C6-4884-A023-7465-B0A8410F410F}"/>
              </a:ext>
            </a:extLst>
          </p:cNvPr>
          <p:cNvSpPr/>
          <p:nvPr/>
        </p:nvSpPr>
        <p:spPr>
          <a:xfrm rot="10800000" flipH="1">
            <a:off x="331469" y="-3"/>
            <a:ext cx="8829202" cy="6868074"/>
          </a:xfrm>
          <a:prstGeom prst="rect">
            <a:avLst/>
          </a:prstGeom>
          <a:gradFill>
            <a:gsLst>
              <a:gs pos="0">
                <a:srgbClr val="244061">
                  <a:alpha val="82352"/>
                </a:srgbClr>
              </a:gs>
              <a:gs pos="21000">
                <a:srgbClr val="244061">
                  <a:alpha val="82352"/>
                </a:srgbClr>
              </a:gs>
              <a:gs pos="100000">
                <a:srgbClr val="4F81BD">
                  <a:alpha val="0"/>
                </a:srgbClr>
              </a:gs>
            </a:gsLst>
            <a:lin ang="8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2" name="Google Shape;332;p15">
            <a:extLst>
              <a:ext uri="{FF2B5EF4-FFF2-40B4-BE49-F238E27FC236}">
                <a16:creationId xmlns:a16="http://schemas.microsoft.com/office/drawing/2014/main" id="{3155D949-2327-3B70-7771-FBC4194E2198}"/>
              </a:ext>
            </a:extLst>
          </p:cNvPr>
          <p:cNvSpPr/>
          <p:nvPr/>
        </p:nvSpPr>
        <p:spPr>
          <a:xfrm rot="10800000">
            <a:off x="-11400" y="0"/>
            <a:ext cx="2717530" cy="6868072"/>
          </a:xfrm>
          <a:prstGeom prst="rect">
            <a:avLst/>
          </a:prstGeom>
          <a:gradFill>
            <a:gsLst>
              <a:gs pos="0">
                <a:srgbClr val="366092">
                  <a:alpha val="0"/>
                </a:srgbClr>
              </a:gs>
              <a:gs pos="99000">
                <a:srgbClr val="000000">
                  <a:alpha val="40392"/>
                </a:srgbClr>
              </a:gs>
              <a:gs pos="100000">
                <a:srgbClr val="000000">
                  <a:alpha val="40392"/>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3" name="Google Shape;333;p15">
            <a:extLst>
              <a:ext uri="{FF2B5EF4-FFF2-40B4-BE49-F238E27FC236}">
                <a16:creationId xmlns:a16="http://schemas.microsoft.com/office/drawing/2014/main" id="{36B85453-78E0-91F7-D04E-4CD03CC2126C}"/>
              </a:ext>
            </a:extLst>
          </p:cNvPr>
          <p:cNvSpPr/>
          <p:nvPr/>
        </p:nvSpPr>
        <p:spPr>
          <a:xfrm flipH="1">
            <a:off x="-11906" y="-3"/>
            <a:ext cx="9175185" cy="6868076"/>
          </a:xfrm>
          <a:prstGeom prst="rect">
            <a:avLst/>
          </a:prstGeom>
          <a:gradFill>
            <a:gsLst>
              <a:gs pos="0">
                <a:srgbClr val="366092">
                  <a:alpha val="0"/>
                </a:srgbClr>
              </a:gs>
              <a:gs pos="3000">
                <a:srgbClr val="366092">
                  <a:alpha val="0"/>
                </a:srgbClr>
              </a:gs>
              <a:gs pos="100000">
                <a:srgbClr val="000000">
                  <a:alpha val="72549"/>
                </a:srgbClr>
              </a:gs>
            </a:gsLst>
            <a:lin ang="17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4" name="Google Shape;334;p15">
            <a:extLst>
              <a:ext uri="{FF2B5EF4-FFF2-40B4-BE49-F238E27FC236}">
                <a16:creationId xmlns:a16="http://schemas.microsoft.com/office/drawing/2014/main" id="{B7B75321-40AD-3729-6FF7-BE67B633338A}"/>
              </a:ext>
            </a:extLst>
          </p:cNvPr>
          <p:cNvSpPr/>
          <p:nvPr/>
        </p:nvSpPr>
        <p:spPr>
          <a:xfrm rot="5400000" flipH="1">
            <a:off x="2505509" y="212908"/>
            <a:ext cx="6861931" cy="6448394"/>
          </a:xfrm>
          <a:prstGeom prst="rect">
            <a:avLst/>
          </a:prstGeom>
          <a:gradFill>
            <a:gsLst>
              <a:gs pos="0">
                <a:srgbClr val="366092">
                  <a:alpha val="0"/>
                </a:srgbClr>
              </a:gs>
              <a:gs pos="3000">
                <a:srgbClr val="366092">
                  <a:alpha val="0"/>
                </a:srgbClr>
              </a:gs>
              <a:gs pos="100000">
                <a:srgbClr val="000000">
                  <a:alpha val="26274"/>
                </a:srgbClr>
              </a:gs>
            </a:gsLst>
            <a:lin ang="1380000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5" name="Google Shape;335;p15">
            <a:extLst>
              <a:ext uri="{FF2B5EF4-FFF2-40B4-BE49-F238E27FC236}">
                <a16:creationId xmlns:a16="http://schemas.microsoft.com/office/drawing/2014/main" id="{7006214E-99DC-BF4B-50E9-8128A84CED4F}"/>
              </a:ext>
            </a:extLst>
          </p:cNvPr>
          <p:cNvSpPr/>
          <p:nvPr/>
        </p:nvSpPr>
        <p:spPr>
          <a:xfrm rot="5993193">
            <a:off x="269287" y="1712598"/>
            <a:ext cx="4967533" cy="3741293"/>
          </a:xfrm>
          <a:prstGeom prst="ellipse">
            <a:avLst/>
          </a:prstGeom>
          <a:gradFill>
            <a:gsLst>
              <a:gs pos="0">
                <a:srgbClr val="4F81BD">
                  <a:alpha val="25490"/>
                </a:srgbClr>
              </a:gs>
              <a:gs pos="85000">
                <a:srgbClr val="93B3D7">
                  <a:alpha val="0"/>
                </a:srgbClr>
              </a:gs>
              <a:gs pos="100000">
                <a:srgbClr val="93B3D7">
                  <a:alpha val="0"/>
                </a:srgbClr>
              </a:gs>
            </a:gsLst>
            <a:lin ang="14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6" name="Google Shape;336;p15">
            <a:extLst>
              <a:ext uri="{FF2B5EF4-FFF2-40B4-BE49-F238E27FC236}">
                <a16:creationId xmlns:a16="http://schemas.microsoft.com/office/drawing/2014/main" id="{786DEDCD-BDF1-48AF-B839-891EEB75B402}"/>
              </a:ext>
            </a:extLst>
          </p:cNvPr>
          <p:cNvSpPr txBox="1">
            <a:spLocks noGrp="1"/>
          </p:cNvSpPr>
          <p:nvPr>
            <p:ph type="ctrTitle"/>
          </p:nvPr>
        </p:nvSpPr>
        <p:spPr>
          <a:xfrm>
            <a:off x="3121925" y="818984"/>
            <a:ext cx="5036024" cy="3178689"/>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4200"/>
              <a:buFont typeface="Calibri"/>
              <a:buNone/>
            </a:pPr>
            <a:r>
              <a:rPr lang="en-CA" sz="4200" dirty="0">
                <a:solidFill>
                  <a:srgbClr val="FFFFFF"/>
                </a:solidFill>
              </a:rPr>
              <a:t>Comparison</a:t>
            </a:r>
            <a:endParaRPr dirty="0"/>
          </a:p>
        </p:txBody>
      </p:sp>
      <p:sp>
        <p:nvSpPr>
          <p:cNvPr id="337" name="Google Shape;337;p15">
            <a:extLst>
              <a:ext uri="{FF2B5EF4-FFF2-40B4-BE49-F238E27FC236}">
                <a16:creationId xmlns:a16="http://schemas.microsoft.com/office/drawing/2014/main" id="{A05D69E0-6782-D547-1B06-F342AFD156B5}"/>
              </a:ext>
            </a:extLst>
          </p:cNvPr>
          <p:cNvSpPr/>
          <p:nvPr/>
        </p:nvSpPr>
        <p:spPr>
          <a:xfrm flipH="1">
            <a:off x="-2" y="4490110"/>
            <a:ext cx="9163282" cy="2377962"/>
          </a:xfrm>
          <a:prstGeom prst="rect">
            <a:avLst/>
          </a:prstGeom>
          <a:gradFill>
            <a:gsLst>
              <a:gs pos="0">
                <a:srgbClr val="366092">
                  <a:alpha val="49411"/>
                </a:srgbClr>
              </a:gs>
              <a:gs pos="99000">
                <a:srgbClr val="000000">
                  <a:alpha val="33333"/>
                </a:srgbClr>
              </a:gs>
              <a:gs pos="100000">
                <a:srgbClr val="000000">
                  <a:alpha val="33333"/>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8" name="Google Shape;338;p15">
            <a:extLst>
              <a:ext uri="{FF2B5EF4-FFF2-40B4-BE49-F238E27FC236}">
                <a16:creationId xmlns:a16="http://schemas.microsoft.com/office/drawing/2014/main" id="{8DCE60D8-A478-1AD0-384C-4ADC7336640D}"/>
              </a:ext>
            </a:extLst>
          </p:cNvPr>
          <p:cNvSpPr txBox="1">
            <a:spLocks noGrp="1"/>
          </p:cNvSpPr>
          <p:nvPr>
            <p:ph type="subTitle" idx="1"/>
          </p:nvPr>
        </p:nvSpPr>
        <p:spPr>
          <a:xfrm>
            <a:off x="3214047" y="4960961"/>
            <a:ext cx="5291920" cy="107805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FFFF"/>
              </a:buClr>
              <a:buSzPts val="2700"/>
              <a:buNone/>
            </a:pPr>
            <a:r>
              <a:rPr lang="en-CA" sz="2700" dirty="0">
                <a:solidFill>
                  <a:srgbClr val="FFFFFF"/>
                </a:solidFill>
              </a:rPr>
              <a:t>Comparison with some others.</a:t>
            </a:r>
            <a:endParaRPr dirty="0"/>
          </a:p>
        </p:txBody>
      </p:sp>
      <p:sp>
        <p:nvSpPr>
          <p:cNvPr id="339" name="Google Shape;339;p15">
            <a:extLst>
              <a:ext uri="{FF2B5EF4-FFF2-40B4-BE49-F238E27FC236}">
                <a16:creationId xmlns:a16="http://schemas.microsoft.com/office/drawing/2014/main" id="{14E60787-B3BD-1084-4E20-37B6E1483FF7}"/>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CA"/>
              <a:t>8</a:t>
            </a:fld>
            <a:endParaRPr/>
          </a:p>
        </p:txBody>
      </p:sp>
    </p:spTree>
    <p:extLst>
      <p:ext uri="{BB962C8B-B14F-4D97-AF65-F5344CB8AC3E}">
        <p14:creationId xmlns:p14="http://schemas.microsoft.com/office/powerpoint/2010/main" val="219298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336"/>
                                        </p:tgtEl>
                                        <p:attrNameLst>
                                          <p:attrName>style.visibility</p:attrName>
                                        </p:attrNameLst>
                                      </p:cBhvr>
                                      <p:to>
                                        <p:strVal val="visible"/>
                                      </p:to>
                                    </p:set>
                                    <p:animEffect transition="in" filter="fade">
                                      <p:cBhvr>
                                        <p:cTn id="7" dur="400"/>
                                        <p:tgtEl>
                                          <p:spTgt spid="336"/>
                                        </p:tgtEl>
                                      </p:cBhvr>
                                    </p:animEffect>
                                  </p:childTnLst>
                                </p:cTn>
                              </p:par>
                              <p:par>
                                <p:cTn id="8" presetID="10" presetClass="entr" presetSubtype="0" fill="hold" nodeType="withEffect">
                                  <p:stCondLst>
                                    <p:cond delay="2000"/>
                                  </p:stCondLst>
                                  <p:childTnLst>
                                    <p:set>
                                      <p:cBhvr>
                                        <p:cTn id="9" dur="1" fill="hold">
                                          <p:stCondLst>
                                            <p:cond delay="0"/>
                                          </p:stCondLst>
                                        </p:cTn>
                                        <p:tgtEl>
                                          <p:spTgt spid="338">
                                            <p:txEl>
                                              <p:pRg st="0" end="0"/>
                                            </p:txEl>
                                          </p:spTgt>
                                        </p:tgtEl>
                                        <p:attrNameLst>
                                          <p:attrName>style.visibility</p:attrName>
                                        </p:attrNameLst>
                                      </p:cBhvr>
                                      <p:to>
                                        <p:strVal val="visible"/>
                                      </p:to>
                                    </p:set>
                                    <p:animEffect transition="in" filter="fade">
                                      <p:cBhvr>
                                        <p:cTn id="10" dur="400"/>
                                        <p:tgtEl>
                                          <p:spTgt spid="3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CA" dirty="0"/>
              <a:t>Comparison</a:t>
            </a:r>
            <a:endParaRPr dirty="0"/>
          </a:p>
        </p:txBody>
      </p:sp>
      <p:sp>
        <p:nvSpPr>
          <p:cNvPr id="444" name="Google Shape;44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CA"/>
              <a:t>9</a:t>
            </a:fld>
            <a:endParaRPr/>
          </a:p>
        </p:txBody>
      </p:sp>
      <p:graphicFrame>
        <p:nvGraphicFramePr>
          <p:cNvPr id="2" name="Table 1">
            <a:extLst>
              <a:ext uri="{FF2B5EF4-FFF2-40B4-BE49-F238E27FC236}">
                <a16:creationId xmlns:a16="http://schemas.microsoft.com/office/drawing/2014/main" id="{09A8E5FB-E70C-7CD5-8C81-C0DD5FF1B3FE}"/>
              </a:ext>
            </a:extLst>
          </p:cNvPr>
          <p:cNvGraphicFramePr>
            <a:graphicFrameLocks noGrp="1"/>
          </p:cNvGraphicFramePr>
          <p:nvPr>
            <p:extLst>
              <p:ext uri="{D42A27DB-BD31-4B8C-83A1-F6EECF244321}">
                <p14:modId xmlns:p14="http://schemas.microsoft.com/office/powerpoint/2010/main" val="2435323279"/>
              </p:ext>
            </p:extLst>
          </p:nvPr>
        </p:nvGraphicFramePr>
        <p:xfrm>
          <a:off x="882096" y="1417637"/>
          <a:ext cx="7371360" cy="3480365"/>
        </p:xfrm>
        <a:graphic>
          <a:graphicData uri="http://schemas.openxmlformats.org/drawingml/2006/table">
            <a:tbl>
              <a:tblPr/>
              <a:tblGrid>
                <a:gridCol w="1474272">
                  <a:extLst>
                    <a:ext uri="{9D8B030D-6E8A-4147-A177-3AD203B41FA5}">
                      <a16:colId xmlns:a16="http://schemas.microsoft.com/office/drawing/2014/main" val="814168900"/>
                    </a:ext>
                  </a:extLst>
                </a:gridCol>
                <a:gridCol w="1474272">
                  <a:extLst>
                    <a:ext uri="{9D8B030D-6E8A-4147-A177-3AD203B41FA5}">
                      <a16:colId xmlns:a16="http://schemas.microsoft.com/office/drawing/2014/main" val="125910397"/>
                    </a:ext>
                  </a:extLst>
                </a:gridCol>
                <a:gridCol w="1474272">
                  <a:extLst>
                    <a:ext uri="{9D8B030D-6E8A-4147-A177-3AD203B41FA5}">
                      <a16:colId xmlns:a16="http://schemas.microsoft.com/office/drawing/2014/main" val="500849550"/>
                    </a:ext>
                  </a:extLst>
                </a:gridCol>
                <a:gridCol w="1474272">
                  <a:extLst>
                    <a:ext uri="{9D8B030D-6E8A-4147-A177-3AD203B41FA5}">
                      <a16:colId xmlns:a16="http://schemas.microsoft.com/office/drawing/2014/main" val="374065372"/>
                    </a:ext>
                  </a:extLst>
                </a:gridCol>
                <a:gridCol w="1474272">
                  <a:extLst>
                    <a:ext uri="{9D8B030D-6E8A-4147-A177-3AD203B41FA5}">
                      <a16:colId xmlns:a16="http://schemas.microsoft.com/office/drawing/2014/main" val="3648672586"/>
                    </a:ext>
                  </a:extLst>
                </a:gridCol>
              </a:tblGrid>
              <a:tr h="671483">
                <a:tc>
                  <a:txBody>
                    <a:bodyPr/>
                    <a:lstStyle/>
                    <a:p>
                      <a:r>
                        <a:rPr lang="en-US" b="1">
                          <a:solidFill>
                            <a:srgbClr val="000000"/>
                          </a:solidFill>
                          <a:effectLst/>
                        </a:rPr>
                        <a:t>Algorithm</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b="1">
                          <a:solidFill>
                            <a:srgbClr val="000000"/>
                          </a:solidFill>
                          <a:effectLst/>
                        </a:rPr>
                        <a:t>Best Case</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b="1" dirty="0">
                          <a:solidFill>
                            <a:srgbClr val="000000"/>
                          </a:solidFill>
                          <a:effectLst/>
                        </a:rPr>
                        <a:t>Worst Case</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b="1">
                          <a:solidFill>
                            <a:srgbClr val="000000"/>
                          </a:solidFill>
                          <a:effectLst/>
                        </a:rPr>
                        <a:t>Average</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b="1">
                          <a:solidFill>
                            <a:srgbClr val="000000"/>
                          </a:solidFill>
                          <a:effectLst/>
                        </a:rPr>
                        <a:t>Constraints</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1925288894"/>
                  </a:ext>
                </a:extLst>
              </a:tr>
              <a:tr h="936294">
                <a:tc>
                  <a:txBody>
                    <a:bodyPr/>
                    <a:lstStyle/>
                    <a:p>
                      <a:r>
                        <a:rPr lang="en-US" b="1">
                          <a:solidFill>
                            <a:srgbClr val="000000"/>
                          </a:solidFill>
                          <a:effectLst/>
                        </a:rPr>
                        <a:t>Simple Compress</a:t>
                      </a:r>
                      <a:endParaRPr lang="en-US">
                        <a:effectLst/>
                      </a:endParaRP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50% (long runs)</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100% (no runs)</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70-90%</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Input &lt; 128</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716770821"/>
                  </a:ext>
                </a:extLst>
              </a:tr>
              <a:tr h="936294">
                <a:tc>
                  <a:txBody>
                    <a:bodyPr/>
                    <a:lstStyle/>
                    <a:p>
                      <a:r>
                        <a:rPr lang="en-US" b="1">
                          <a:solidFill>
                            <a:srgbClr val="000000"/>
                          </a:solidFill>
                          <a:effectLst/>
                        </a:rPr>
                        <a:t>Classic RLE</a:t>
                      </a:r>
                      <a:endParaRPr lang="en-US">
                        <a:effectLst/>
                      </a:endParaRP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50% (long runs)</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200% (all singles)</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100-150%</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None</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2635842859"/>
                  </a:ext>
                </a:extLst>
              </a:tr>
              <a:tr h="936294">
                <a:tc>
                  <a:txBody>
                    <a:bodyPr/>
                    <a:lstStyle/>
                    <a:p>
                      <a:r>
                        <a:rPr lang="en-US" b="1">
                          <a:solidFill>
                            <a:srgbClr val="000000"/>
                          </a:solidFill>
                          <a:effectLst/>
                        </a:rPr>
                        <a:t>PackBits</a:t>
                      </a:r>
                      <a:endParaRPr lang="en-US">
                        <a:effectLst/>
                      </a:endParaRP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50% (long runs)</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101% (worst pattern)</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a:effectLst/>
                        </a:rPr>
                        <a:t>80-100%</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tc>
                  <a:txBody>
                    <a:bodyPr/>
                    <a:lstStyle/>
                    <a:p>
                      <a:r>
                        <a:rPr lang="en-US" dirty="0">
                          <a:effectLst/>
                        </a:rPr>
                        <a:t>None</a:t>
                      </a:r>
                    </a:p>
                  </a:txBody>
                  <a:tcPr marL="123825" marR="123825" marT="57150" marB="57150" anchor="ctr">
                    <a:lnL w="9525" cap="flat" cmpd="sng" algn="ctr">
                      <a:solidFill>
                        <a:srgbClr val="D6D6D6"/>
                      </a:solidFill>
                      <a:prstDash val="solid"/>
                      <a:round/>
                      <a:headEnd type="none" w="med" len="med"/>
                      <a:tailEnd type="none" w="med" len="med"/>
                    </a:lnL>
                    <a:lnR w="9525" cap="flat" cmpd="sng" algn="ctr">
                      <a:solidFill>
                        <a:srgbClr val="D6D6D6"/>
                      </a:solidFill>
                      <a:prstDash val="solid"/>
                      <a:round/>
                      <a:headEnd type="none" w="med" len="med"/>
                      <a:tailEnd type="none" w="med" len="med"/>
                    </a:lnR>
                    <a:lnT w="9525" cap="flat" cmpd="sng" algn="ctr">
                      <a:solidFill>
                        <a:srgbClr val="D6D6D6"/>
                      </a:solidFill>
                      <a:prstDash val="solid"/>
                      <a:round/>
                      <a:headEnd type="none" w="med" len="med"/>
                      <a:tailEnd type="none" w="med" len="med"/>
                    </a:lnT>
                    <a:lnB w="9525" cap="flat" cmpd="sng" algn="ctr">
                      <a:solidFill>
                        <a:srgbClr val="D6D6D6"/>
                      </a:solidFill>
                      <a:prstDash val="solid"/>
                      <a:round/>
                      <a:headEnd type="none" w="med" len="med"/>
                      <a:tailEnd type="none" w="med" len="med"/>
                    </a:lnB>
                    <a:solidFill>
                      <a:srgbClr val="FFFFFF"/>
                    </a:solidFill>
                  </a:tcPr>
                </a:tc>
                <a:extLst>
                  <a:ext uri="{0D108BD9-81ED-4DB2-BD59-A6C34878D82A}">
                    <a16:rowId xmlns:a16="http://schemas.microsoft.com/office/drawing/2014/main" val="25909796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0"/>
        <p:cNvGrpSpPr/>
        <p:nvPr/>
      </p:nvGrpSpPr>
      <p:grpSpPr>
        <a:xfrm>
          <a:off x="0" y="0"/>
          <a:ext cx="0" cy="0"/>
          <a:chOff x="0" y="0"/>
          <a:chExt cx="0" cy="0"/>
        </a:xfrm>
      </p:grpSpPr>
      <p:sp>
        <p:nvSpPr>
          <p:cNvPr id="451" name="Google Shape;451;p25"/>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2" name="Google Shape;452;p25"/>
          <p:cNvSpPr/>
          <p:nvPr/>
        </p:nvSpPr>
        <p:spPr>
          <a:xfrm rot="10800000">
            <a:off x="-8792" y="-1"/>
            <a:ext cx="9169464" cy="6868071"/>
          </a:xfrm>
          <a:prstGeom prst="rect">
            <a:avLst/>
          </a:prstGeom>
          <a:gradFill>
            <a:gsLst>
              <a:gs pos="0">
                <a:srgbClr val="000000"/>
              </a:gs>
              <a:gs pos="100000">
                <a:srgbClr val="366092"/>
              </a:gs>
            </a:gsLst>
            <a:lin ang="4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3" name="Google Shape;453;p25"/>
          <p:cNvSpPr/>
          <p:nvPr/>
        </p:nvSpPr>
        <p:spPr>
          <a:xfrm rot="10800000" flipH="1">
            <a:off x="331469" y="-3"/>
            <a:ext cx="8829202" cy="6868074"/>
          </a:xfrm>
          <a:prstGeom prst="rect">
            <a:avLst/>
          </a:prstGeom>
          <a:gradFill>
            <a:gsLst>
              <a:gs pos="0">
                <a:srgbClr val="244061">
                  <a:alpha val="82352"/>
                </a:srgbClr>
              </a:gs>
              <a:gs pos="21000">
                <a:srgbClr val="244061">
                  <a:alpha val="82352"/>
                </a:srgbClr>
              </a:gs>
              <a:gs pos="100000">
                <a:srgbClr val="4F81BD">
                  <a:alpha val="0"/>
                </a:srgbClr>
              </a:gs>
            </a:gsLst>
            <a:lin ang="8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4" name="Google Shape;454;p25"/>
          <p:cNvSpPr/>
          <p:nvPr/>
        </p:nvSpPr>
        <p:spPr>
          <a:xfrm rot="10800000">
            <a:off x="-11400" y="0"/>
            <a:ext cx="2717530" cy="6868072"/>
          </a:xfrm>
          <a:prstGeom prst="rect">
            <a:avLst/>
          </a:prstGeom>
          <a:gradFill>
            <a:gsLst>
              <a:gs pos="0">
                <a:srgbClr val="366092">
                  <a:alpha val="0"/>
                </a:srgbClr>
              </a:gs>
              <a:gs pos="99000">
                <a:srgbClr val="000000">
                  <a:alpha val="40392"/>
                </a:srgbClr>
              </a:gs>
              <a:gs pos="100000">
                <a:srgbClr val="000000">
                  <a:alpha val="40392"/>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5" name="Google Shape;455;p25"/>
          <p:cNvSpPr/>
          <p:nvPr/>
        </p:nvSpPr>
        <p:spPr>
          <a:xfrm flipH="1">
            <a:off x="-11906" y="-3"/>
            <a:ext cx="9175185" cy="6868076"/>
          </a:xfrm>
          <a:prstGeom prst="rect">
            <a:avLst/>
          </a:prstGeom>
          <a:gradFill>
            <a:gsLst>
              <a:gs pos="0">
                <a:srgbClr val="366092">
                  <a:alpha val="0"/>
                </a:srgbClr>
              </a:gs>
              <a:gs pos="3000">
                <a:srgbClr val="366092">
                  <a:alpha val="0"/>
                </a:srgbClr>
              </a:gs>
              <a:gs pos="100000">
                <a:srgbClr val="000000">
                  <a:alpha val="72549"/>
                </a:srgbClr>
              </a:gs>
            </a:gsLst>
            <a:lin ang="17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6" name="Google Shape;456;p25"/>
          <p:cNvSpPr/>
          <p:nvPr/>
        </p:nvSpPr>
        <p:spPr>
          <a:xfrm rot="5400000" flipH="1">
            <a:off x="2505509" y="212908"/>
            <a:ext cx="6861931" cy="6448394"/>
          </a:xfrm>
          <a:prstGeom prst="rect">
            <a:avLst/>
          </a:prstGeom>
          <a:gradFill>
            <a:gsLst>
              <a:gs pos="0">
                <a:srgbClr val="366092">
                  <a:alpha val="0"/>
                </a:srgbClr>
              </a:gs>
              <a:gs pos="3000">
                <a:srgbClr val="366092">
                  <a:alpha val="0"/>
                </a:srgbClr>
              </a:gs>
              <a:gs pos="100000">
                <a:srgbClr val="000000">
                  <a:alpha val="26274"/>
                </a:srgbClr>
              </a:gs>
            </a:gsLst>
            <a:lin ang="13800001"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7" name="Google Shape;457;p25"/>
          <p:cNvSpPr/>
          <p:nvPr/>
        </p:nvSpPr>
        <p:spPr>
          <a:xfrm rot="5993193">
            <a:off x="269287" y="1712598"/>
            <a:ext cx="4967533" cy="3741293"/>
          </a:xfrm>
          <a:prstGeom prst="ellipse">
            <a:avLst/>
          </a:prstGeom>
          <a:gradFill>
            <a:gsLst>
              <a:gs pos="0">
                <a:srgbClr val="4F81BD">
                  <a:alpha val="25490"/>
                </a:srgbClr>
              </a:gs>
              <a:gs pos="85000">
                <a:srgbClr val="93B3D7">
                  <a:alpha val="0"/>
                </a:srgbClr>
              </a:gs>
              <a:gs pos="100000">
                <a:srgbClr val="93B3D7">
                  <a:alpha val="0"/>
                </a:srgbClr>
              </a:gs>
            </a:gsLst>
            <a:lin ang="14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58" name="Google Shape;458;p25"/>
          <p:cNvSpPr txBox="1"/>
          <p:nvPr/>
        </p:nvSpPr>
        <p:spPr>
          <a:xfrm>
            <a:off x="3075975" y="1334600"/>
            <a:ext cx="3340200" cy="1078500"/>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rgbClr val="000000"/>
              </a:buClr>
              <a:buSzPts val="4200"/>
              <a:buFont typeface="Arial"/>
              <a:buNone/>
            </a:pPr>
            <a:r>
              <a:rPr lang="en-CA" sz="4200" b="0" i="0" u="none" strike="noStrike" cap="none">
                <a:solidFill>
                  <a:srgbClr val="FFFFFF"/>
                </a:solidFill>
                <a:latin typeface="Calibri"/>
                <a:ea typeface="Calibri"/>
                <a:cs typeface="Calibri"/>
                <a:sym typeface="Calibri"/>
              </a:rPr>
              <a:t>Thank you !</a:t>
            </a:r>
            <a:endParaRPr sz="1400" b="0" i="0" u="none" strike="noStrike" cap="none">
              <a:solidFill>
                <a:srgbClr val="000000"/>
              </a:solidFill>
              <a:latin typeface="Arial"/>
              <a:ea typeface="Arial"/>
              <a:cs typeface="Arial"/>
              <a:sym typeface="Arial"/>
            </a:endParaRPr>
          </a:p>
        </p:txBody>
      </p:sp>
      <p:sp>
        <p:nvSpPr>
          <p:cNvPr id="459" name="Google Shape;459;p25"/>
          <p:cNvSpPr/>
          <p:nvPr/>
        </p:nvSpPr>
        <p:spPr>
          <a:xfrm flipH="1">
            <a:off x="-2" y="4490110"/>
            <a:ext cx="9163282" cy="2377962"/>
          </a:xfrm>
          <a:prstGeom prst="rect">
            <a:avLst/>
          </a:prstGeom>
          <a:gradFill>
            <a:gsLst>
              <a:gs pos="0">
                <a:srgbClr val="366092">
                  <a:alpha val="49411"/>
                </a:srgbClr>
              </a:gs>
              <a:gs pos="99000">
                <a:srgbClr val="000000">
                  <a:alpha val="33333"/>
                </a:srgbClr>
              </a:gs>
              <a:gs pos="100000">
                <a:srgbClr val="000000">
                  <a:alpha val="33333"/>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60" name="Google Shape;460;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CA"/>
              <a:t>10</a:t>
            </a:fld>
            <a:endParaRPr/>
          </a:p>
        </p:txBody>
      </p:sp>
      <p:pic>
        <p:nvPicPr>
          <p:cNvPr id="461" name="Google Shape;461;p25" title="happy_santa2.png"/>
          <p:cNvPicPr preferRelativeResize="0"/>
          <p:nvPr/>
        </p:nvPicPr>
        <p:blipFill>
          <a:blip r:embed="rId3">
            <a:alphaModFix/>
          </a:blip>
          <a:stretch>
            <a:fillRect/>
          </a:stretch>
        </p:blipFill>
        <p:spPr>
          <a:xfrm>
            <a:off x="2706675" y="2313375"/>
            <a:ext cx="3749900" cy="37499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455</Words>
  <Application>Microsoft Office PowerPoint</Application>
  <PresentationFormat>On-screen Show (4:3)</PresentationFormat>
  <Paragraphs>91</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Project Report Simple Compress Design &amp; Implementation (A simple code C on Linux OS)</vt:lpstr>
      <vt:lpstr>Main Content</vt:lpstr>
      <vt:lpstr>System Design &amp; Implementation </vt:lpstr>
      <vt:lpstr>System architecture diagram</vt:lpstr>
      <vt:lpstr>Directory structure of project</vt:lpstr>
      <vt:lpstr>Test Report</vt:lpstr>
      <vt:lpstr>Test report - Critical cases only</vt:lpstr>
      <vt:lpstr>Comparison</vt:lpstr>
      <vt:lpstr>Comparison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 nv</cp:lastModifiedBy>
  <cp:revision>29</cp:revision>
  <dcterms:created xsi:type="dcterms:W3CDTF">2013-01-27T09:14:16Z</dcterms:created>
  <dcterms:modified xsi:type="dcterms:W3CDTF">2025-11-22T04:05:24Z</dcterms:modified>
</cp:coreProperties>
</file>